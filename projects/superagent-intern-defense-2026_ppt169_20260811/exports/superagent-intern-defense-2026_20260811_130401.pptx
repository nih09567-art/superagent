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各位老师好，我们的课题不是再做一个会调用工具的 Agent，而是把开放式模型能力收敛成一套可治理的数字员工执行闭环。整套成果围绕四个环节展开：主 Agent 决策与路由、多 Agent 协同编排与工具选择、记忆与 Skill，以及权限治理。接下来我会用产品对标、机制设计、评测数据和真实原型，说明这四层怎样共同保证决策、执行、状态和治理可信。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这一页先给出全局答案。主 Agent 负责把自然语言变成 TaskProfile，并在授权候选中做可解释路由，我们用三十三条意图用例验证这一层。多 Agent 层把计划变成 TaskGraph，负责调度、工具选择和恢复，四十八个工具平均收敛到二点一七个候选，B2 策略下任务闭环率达到百分之四十。Memory 和 Skill 分别治理上下文、长期事实和程序经验，Memory 的六十四条确定性用例全部通过。S-ABAC 则在模型之外执行四道 PEP 和三态授权，权限核心测试一百零五条全部通过。时间安排是 PPT 十六到十八分钟、演示五分钟，其余用于提问。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第一章回答“做什么、谁来做”。我们的判断是，模型理解一句话并不等于系统可以执行；只有把理解结果固化为 TaskProfile，经过权限过滤并生成可审计的 RoutingDecision，后续计划和执行才有可靠入口。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这一页重点回答为什么没有直接复刻通用框架的路由方式。OpenAI Agents SDK 提供 manager、agent-as-tool 和 handoff 等多 Agent 原语；AutoGen 的 SelectorGroupChat 可以根据对话选择下一位参与者；LangGraph 用 Router 和 StateGraph 明确状态与执行关系。这些能力都很强，但企业数字员工还需要业务意图、数据范围、动作风险和授权候选四类约束。SuperAgent 的差异不是新增一种 handoff，而是在模型打分以前，先用 TaskProfile 和 AgentCard 构造合法候选集合，再输出 Top-K、排除原因、reason codes 和 trace id。这里不做跨评测集准确率排名，只比较官方能力边界与我们补上的业务契约。</a:t>
            </a:r>
          </a:p>
          <a:p>
            <a:pPr/>
            <a:endParaRPr lang="zh-CN" dirty="0"/>
          </a:p>
          <a:p>
            <a:pPr/>
            <a:r>
              <a:rPr lang="zh-CN" dirty="0"/>
              <a:t>[Sources]</a:t>
            </a:r>
          </a:p>
          <a:p>
            <a:pPr/>
            <a:r>
              <a:rPr lang="zh-CN" dirty="0"/>
              <a:t>https://openai.github.io/openai-agents-python/multi_agent/</a:t>
            </a:r>
          </a:p>
          <a:p>
            <a:pPr/>
            <a:r>
              <a:rPr lang="zh-CN" dirty="0"/>
              <a:t>https://microsoft.github.io/autogen/stable/user-guide/agentchat-user-guide/selector-group-chat.html</a:t>
            </a:r>
          </a:p>
          <a:p>
            <a:pPr/>
            <a:r>
              <a:rPr lang="zh-CN" dirty="0"/>
              <a:t>https://docs.langchain.com/oss/python/langgraph/overview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这一页解释路由链路。用户请求首先被解析成 TaskProfile，除了主意图、子意图和实体，还保留动作、数据范围、风险、否定与依赖。随后 AgentCard 按授权、在线状态、动作、范围和风险上限做硬过滤，被排除的候选留下 reason codes，但绝不进入评分。剩余候选才按意图、能力、场景、范围、历史和可用性计算 RouteScore。系统最终只有三种终态：合法候选明确时 ROUTE，关键信息缺失时 CLARIFY，没有合法候选时 REJECT 或 NO_CAPABLE_AGENT。核心原则是权限不能被更高的语义分抵消。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同时展示评测和真实决策台。三十三条固定用例中，主意图百分之九十三点九四、实体字段百分之九十六点四六、依赖完整率百分之九十二点三一、子意图召回率百分之九十八点四八，严格整例达到百分之九十四点三，澄清触发达到百分之九十五点六，六项指标均已越过百分之九十目标线。右侧完整截图证明这些字段、候选 Agent 和推荐结果已经进入可操作原型。严格整例仍采用多字段同时正确的口径，否定动作误执行保持为零；下一步继续扩大测试语料，并补充规则、语义和混合模式的同配置对照。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第二章回答任务怎样被多人、多工具可靠完成。计划不能只是一段模型生成的文本，它必须经过校验，转成可调度、可暂停、可恢复的执行契约，才能交给 Scheduler。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这一页先对标编排路线。ReAct 擅长边思考边行动，但完整路径难以前置校验；AutoGen 的对话协作灵活，消息、状态和业务结果容易混在同一对话流里；LangGraph 提供显式图、Checkpoint 和 Interrupt，业务合同仍由应用补充；A2A 统一 Agent Card、Task、Message 和 Artifact 的互操作对象，但不负责组织内部权限和工具选择。SuperAgent 采用分层方案：LLM 生成候选计划，系统依次完成归一化、需求覆盖、Agent Contract、输入输出 Schema、数据依赖和 DAG 校验，最后才生成 TaskGraph 并交给 Scheduler。任何校验失败都回到 Planner 或进入澄清，不直接放行。</a:t>
            </a:r>
          </a:p>
          <a:p>
            <a:pPr/>
            <a:endParaRPr lang="zh-CN" dirty="0"/>
          </a:p>
          <a:p>
            <a:pPr/>
            <a:r>
              <a:rPr lang="zh-CN" dirty="0"/>
              <a:t>[Sources]</a:t>
            </a:r>
          </a:p>
          <a:p>
            <a:pPr/>
            <a:r>
              <a:rPr lang="zh-CN" dirty="0"/>
              <a:t>https://arxiv.org/abs/2210.03629</a:t>
            </a:r>
          </a:p>
          <a:p>
            <a:pPr/>
            <a:r>
              <a:rPr lang="zh-CN" dirty="0"/>
              <a:t>https://microsoft.github.io/autogen/stable/user-guide/agentchat-user-guide/selector-group-chat.html</a:t>
            </a:r>
          </a:p>
          <a:p>
            <a:pPr/>
            <a:r>
              <a:rPr lang="zh-CN" dirty="0"/>
              <a:t>https://docs.langchain.com/oss/python/langgraph/overview</a:t>
            </a:r>
          </a:p>
          <a:p>
            <a:pPr/>
            <a:r>
              <a:rPr lang="zh-CN" dirty="0"/>
              <a:t>https://a2a-protocol.org/latest/specification/</a:t>
            </a:r>
          </a:p>
          <a:p>
            <a:pPr/>
            <a:r>
              <a:rPr lang="zh-CN" dirty="0"/>
              <a:t>https://docs.temporal.io/temporal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这一页解释两个容易混淆的问题。第一，控制面和数据面必须解耦：TaskGraph、Scheduler 和 StepResult 决定状态、依赖与何时执行；Agent、Artifact 和 ArtifactRef 负责产物、引用与血缘，两条轨道只在 StepResult.outputs 交叉。第二，工具不能把整个目录直接交给模型。我们的 ToolRegistry 有三十个 Office MCP 工具和十八个 Excel MCP 工具，先按 Server、Scenario、Operation、Agent 和 Input Schema 做确定性过滤，再按名称、别名、意图和描述评分，并允许 ABSTAIN。固定评测集中，平均候选从四十八降到二点一七，Top-1、Top-3 和 Schema 有效率均为百分之百，工具幻觉为零，平均耗时一点五一毫秒。当前仍以 audit 模式为主，不能外推到开放工具环境。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这一页回答中断后如何安全继续。暂停不是停掉线程，而是 RUNNING、PAUSE_REQUESTED、PAUSED 再回到 RUNNING 的显式状态机，只在安全点落盘。提交顺序是先写 Artifact Payload，再写 Checkpoint，最后标记步骤完成；如果外部写入状态未知，就进入 NEEDS_RECONCILIATION，由人工对账。右侧对照实验每种策略运行五百次，使用固定随机种子、Stub Router 与 Executor 和人工故障注入。B0 没有自动恢复时，闭环率百分之十二点四，首次失败后恢复为零；B1 有界重试提升到百分之二十七点二和十六点九；B2 允许改派等价且已授权 Agent 后，达到百分之四十和三十一点五。重复副作用和治理违规都为零。实验用于比较机制，不代表生产成功率；自动重试和改派主要限于只读步骤。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第三章讨论系统怎样“记住”。会话上下文、跨会话长期事实和程序性经验的来源、生命周期与风险完全不同，必须分成三条治理通道，并且只由主 Agent 统一使用，避免直接污染远端 Agent。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这一页先看同类能力。OpenAI Sessions 重点是会话历史持久化；LangGraph 用 Checkpointer 与 Store 区分线程状态和跨线程存储；Mem0 强调动态抽取、整合与检索；Voyager 把成功经验沉淀成可执行 Skill Library。我们的先进性不在宣称某个单项记忆算法达到 SOTA，而在三通道组合与治理。上下文压缩在窗口超限前发生，保留最近两轮和未完成的 Plan、TaskGraph、Artifact；长期 Memory 用固定办公标签记录来源、用户或项目范围、冲突和衰减，只注入主 Agent；Step 或 Agent Skill 需要 LLM 反思、至少两次独立成功证据，并通过 Agent、Tool、Schema、范围和副作用门禁。命中 Skill 只增强对应 Plan 步骤，不能跳过 Planner。</a:t>
            </a:r>
          </a:p>
          <a:p>
            <a:pPr/>
            <a:endParaRPr lang="zh-CN" dirty="0"/>
          </a:p>
          <a:p>
            <a:pPr/>
            <a:r>
              <a:rPr lang="zh-CN" dirty="0"/>
              <a:t>[Sources]</a:t>
            </a:r>
          </a:p>
          <a:p>
            <a:pPr/>
            <a:r>
              <a:rPr lang="zh-CN" dirty="0"/>
              <a:t>https://openai.github.io/openai-agents-python/sessions/</a:t>
            </a:r>
          </a:p>
          <a:p>
            <a:pPr/>
            <a:r>
              <a:rPr lang="zh-CN" dirty="0"/>
              <a:t>https://docs.langchain.com/oss/python/langgraph/persistence</a:t>
            </a:r>
          </a:p>
          <a:p>
            <a:pPr/>
            <a:r>
              <a:rPr lang="zh-CN" dirty="0"/>
              <a:t>https://docs.langchain.com/oss/python/langgraph/add-memory</a:t>
            </a:r>
          </a:p>
          <a:p>
            <a:pPr/>
            <a:r>
              <a:rPr lang="zh-CN" dirty="0"/>
              <a:t>https://docs.mem0.ai/platform/overview</a:t>
            </a:r>
          </a:p>
          <a:p>
            <a:pPr/>
            <a:r>
              <a:rPr lang="zh-CN" dirty="0"/>
              <a:t>https://arxiv.org/abs/2305.16291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这一页把三个通道分别评测。上下文压缩在八 K、十六 K、三十二 K 档位分别从四千四百二十六降到三千四百六十、六千九百三十九降到六千二百六十二、一万一千九百零五降到六千一百三十七；三档都保留最近两轮和四分之四事实，压缩后的三条工作流恢复九分之九步骤、Artifact 和事实，禁止副作用为零。Memory 的六十四条确定性状态机用例全部通过，TP 四十四、FP 和 FN 都为零，但这不等同于在线 LLM 抽取准确率。Skill 是三十一分之三十六，五个失败都定位到 data scope 规范化不一致：计划侧已经规范化，Skill 卡仍保留点号原格式。邮件高风险复用一分之一被正确阻断，其余门禁维度均为六分之六。另有十七条本地端到端链路验证模块连接，但不包装成线上成功率。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第四章进入权限治理。我们的原则是，权限必须由模型之外的执行系统强制；一次通过不会沿整条链路永久继承，路由、派发、工具和结果四个执行点都要重新鉴权。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这一页回答为什么不只使用 RBAC。ACL 对单个对象直观，但规模扩大后难维护；RBAC 适合稳定岗位，却不足以表达任务目的和数据范围；ABAC 与 ReBAC 能提供属性和关系层面的细粒度控制；OPA 和 Cedar 提供外置 PDP 与策略语言，是后续生产迁移候选；OpenAI Guardrails 能做输入、输出和工具级校验，但企业授权关系仍由应用实现。SuperAgent 的 S-ABAC 同时考虑 Subject、Object、Scenario 和 Action：用户、Agent、部门、信任与委托是一组主体属性，Agent、Tool、Artifact、敏感度和范围是一组对象属性，再叠加业务目的、风险、审批、环境和具体动作。PolicyEngine 输出 ALLOW、DENY 或 REVIEW_REQUIRED；人工审批只能放行 REVIEW_REQUIRED，不能把 DENY 提升为允许。</a:t>
            </a:r>
          </a:p>
          <a:p>
            <a:pPr/>
            <a:endParaRPr lang="zh-CN" dirty="0"/>
          </a:p>
          <a:p>
            <a:pPr/>
            <a:r>
              <a:rPr lang="zh-CN" dirty="0"/>
              <a:t>[Sources]</a:t>
            </a:r>
          </a:p>
          <a:p>
            <a:pPr/>
            <a:r>
              <a:rPr lang="zh-CN" dirty="0"/>
              <a:t>https://csrc.nist.gov/pubs/sp/800/162/upd2/final</a:t>
            </a:r>
          </a:p>
          <a:p>
            <a:pPr/>
            <a:r>
              <a:rPr lang="zh-CN" dirty="0"/>
              <a:t>https://www.openpolicyagent.org/docs</a:t>
            </a:r>
          </a:p>
          <a:p>
            <a:pPr/>
            <a:r>
              <a:rPr lang="zh-CN" dirty="0"/>
              <a:t>https://docs.cedarpolicy.com/</a:t>
            </a:r>
          </a:p>
          <a:p>
            <a:pPr/>
            <a:r>
              <a:rPr lang="zh-CN" dirty="0"/>
              <a:t>https://openai.github.io/openai-agents-python/guardrails/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这一页把策略落到四个真实执行点。路由前，无权 Agent 不进入候选；派发前，重新核验目标 Agent、动作、数据域和风险；工具前，核验工具归属、DelegationGrant、参数、场景与审批状态；结果前，Artifact Guard 检查 owner、producer、sensitivity、scope、checksum 和 derived_from。右侧是完整 S-ABAC 管理台截图，当前原型包含六个用户画像、十八项 Agent 属性、四十二项资源属性和三条策略。高风险审批不是一张永久通行证，它一次性绑定 task、resource、action、scenario 和 params。未知资源、Receipt 损坏或关键持久化失败时一律 Fail Closed。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最后用三层证据收束。结构和合同测试验证接口是否按设计工作，包括主 Agent 一百一十三分之一百一十三、权限核心一百零五分之一百零五和 API 十二分之十二；专项评测分别回答意图、工具、恢复、Memory、Skill 与权限机制的效果；十七条本地端到端链路和现场演示验证模块能连起来。专题合并回归是二百五十二分之二百五十三，唯一失败是 UI 静态资源缓存版本断言。五分钟演示从“查询员工张三工资”开始，依次展示 TaskProfile、候选 Agent、S-ABAC 返回 REVIEW_REQUIRED、一次性审批、恢复执行，以及 Receipt、Artifact 和时间线。如果现场服务异常，就切换到截图与已有回归证据，仍按这条链路解释。边界也明确：Tool Resolver 仍以 audit 为主，Memory 六十四分之六十四是确定性状态机，Skill 保留五个缺陷；当前不等同于生产 IAM、密钥管理、加密或公网部署安全认证。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最后是人员分工。刘建杰负责主 Agent 决策与路由、S-ABAC 权限治理和系统集成，对应 TaskProfile、RoutingDecision、四道 PEP、治理台及相关问答。成员 A 负责多 Agent 编排、TaskGraph、Scheduler、Tool Resolver 和暂停恢复；成员 B 负责上下文压缩、长期 Memory 和 Step 或 Agent Skill；成员 C 负责前端原型、演示场景、自动化回归及 PPT、报告材料整合。四个人共同负责 Agent、Tool、Artifact 契约、统一评测口径、联调、演示演练和材料复核。答辩前需要把三处“成员姓名待补充”替换为真实姓名。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uperagent-intern-defense-202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uperagent-intern-defense-202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82f2e9b6742df69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20db93b85f2df70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572262" y="730568"/>
            <a:ext cx="6142939" cy="3654933"/>
            <a:chOff x="572262" y="730568"/>
            <a:chExt cx="6142939" cy="3654933"/>
          </a:xfrm>
        </p:grpSpPr>
        <p:sp>
          <p:nvSpPr>
            <p:cNvPr id="2" name="TextBox 2"/>
            <p:cNvSpPr txBox="1"/>
            <p:nvPr/>
          </p:nvSpPr>
          <p:spPr>
            <a:xfrm>
              <a:off x="583692" y="730568"/>
              <a:ext cx="3839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 / INTERN DEFENSE 2026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90550" y="1123950"/>
              <a:ext cx="6858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72262" y="1592580"/>
              <a:ext cx="484831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把开放式 Agent 变成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72262" y="2221230"/>
              <a:ext cx="614293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可治理的数字员工执行闭环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1787" y="3090386"/>
              <a:ext cx="5227320" cy="699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主 Agent 决策与路由 × 多 Agent 协同编排与工具选择</a:t>
              </a:r>
              <a:br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记忆与 Skill × 权限治理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3692" y="4121468"/>
              <a:ext cx="4204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SuperAgent 数字员工智能任务执行关键技术研究组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24750" y="1333500"/>
            <a:ext cx="3752850" cy="3800475"/>
            <a:chOff x="7524750" y="1333500"/>
            <a:chExt cx="3752850" cy="3800475"/>
          </a:xfrm>
        </p:grpSpPr>
        <p:sp>
          <p:nvSpPr>
            <p:cNvPr id="9" name="Ellipse 9"/>
            <p:cNvSpPr/>
            <p:nvPr/>
          </p:nvSpPr>
          <p:spPr>
            <a:xfrm>
              <a:off x="7543800" y="1333500"/>
              <a:ext cx="3733800" cy="3733800"/>
            </a:xfrm>
            <a:prstGeom prst="ellipse">
              <a:avLst/>
            </a:pr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524750" y="1524000"/>
              <a:ext cx="2895600" cy="2895600"/>
            </a:xfrm>
            <a:prstGeom prst="ellipse">
              <a:avLst/>
            </a:prstGeom>
            <a:noFill/>
            <a:ln w="209550">
              <a:solidFill>
                <a:schemeClr val="accent1">
                  <a:alpha val="92000"/>
                </a:scheme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639175" y="2228850"/>
              <a:ext cx="2438400" cy="2438400"/>
            </a:xfrm>
            <a:prstGeom prst="ellipse">
              <a:avLst/>
            </a:prstGeom>
            <a:noFill/>
            <a:ln w="142875">
              <a:solidFill>
                <a:schemeClr val="accent2">
                  <a:alpha val="92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067675" y="1952625"/>
              <a:ext cx="2105025" cy="66675"/>
            </a:xfrm>
            <a:custGeom>
              <a:avLst/>
              <a:gdLst/>
              <a:ahLst/>
              <a:cxnLst/>
              <a:rect l="l" t="t" r="r" b="b"/>
              <a:pathLst>
                <a:path w="2105025" h="66675">
                  <a:moveTo>
                    <a:pt x="0" y="0"/>
                  </a:moveTo>
                  <a:lnTo>
                    <a:pt x="2105025" y="6667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172700" y="2019300"/>
              <a:ext cx="752475" cy="1828800"/>
            </a:xfrm>
            <a:custGeom>
              <a:avLst/>
              <a:gdLst/>
              <a:ahLst/>
              <a:cxnLst/>
              <a:rect l="l" t="t" r="r" b="b"/>
              <a:pathLst>
                <a:path w="752475" h="1828800">
                  <a:moveTo>
                    <a:pt x="0" y="0"/>
                  </a:moveTo>
                  <a:lnTo>
                    <a:pt x="752475" y="18288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096375" y="3848100"/>
              <a:ext cx="1828800" cy="962025"/>
            </a:xfrm>
            <a:custGeom>
              <a:avLst/>
              <a:gdLst/>
              <a:ahLst/>
              <a:cxnLst/>
              <a:rect l="l" t="t" r="r" b="b"/>
              <a:pathLst>
                <a:path w="1828800" h="962025">
                  <a:moveTo>
                    <a:pt x="1828800" y="0"/>
                  </a:moveTo>
                  <a:lnTo>
                    <a:pt x="0" y="9620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8067675" y="1952625"/>
              <a:ext cx="1028700" cy="2857500"/>
            </a:xfrm>
            <a:custGeom>
              <a:avLst/>
              <a:gdLst/>
              <a:ahLst/>
              <a:cxnLst/>
              <a:rect l="l" t="t" r="r" b="b"/>
              <a:pathLst>
                <a:path w="1028700" h="2857500">
                  <a:moveTo>
                    <a:pt x="1028700" y="28575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7743825" y="1628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848850" y="16954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0601325" y="35242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772525" y="4486275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80269" y="18816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85294" y="19483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编排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37769" y="37771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治理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08969" y="47391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982075" y="2771775"/>
              <a:ext cx="857250" cy="857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36220" y="3005614"/>
              <a:ext cx="7489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TRUSTED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54211" y="32504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闭环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84073" y="6000750"/>
            <a:ext cx="11036427" cy="530828"/>
            <a:chOff x="584073" y="6000750"/>
            <a:chExt cx="11036427" cy="530828"/>
          </a:xfrm>
        </p:grpSpPr>
        <p:sp>
          <p:nvSpPr>
            <p:cNvPr id="28" name="Line 28"/>
            <p:cNvSpPr/>
            <p:nvPr/>
          </p:nvSpPr>
          <p:spPr>
            <a:xfrm>
              <a:off x="590550" y="6115050"/>
              <a:ext cx="10229850" cy="9525"/>
            </a:xfrm>
            <a:custGeom>
              <a:avLst/>
              <a:gdLst/>
              <a:ahLst/>
              <a:cxnLst/>
              <a:rect l="l" t="t" r="r" b="b"/>
              <a:pathLst>
                <a:path w="10229850" h="9525">
                  <a:moveTo>
                    <a:pt x="0" y="0"/>
                  </a:moveTo>
                  <a:lnTo>
                    <a:pt x="102298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4073" y="6282214"/>
              <a:ext cx="21927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实习课题答辩 · 2026.08.13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11125200" y="60007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261039" y="61693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972" y="594360"/>
            <a:ext cx="10503065" cy="760285"/>
            <a:chOff x="537972" y="594360"/>
            <a:chExt cx="10503065" cy="760285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594360"/>
              <a:ext cx="1759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0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EXECUTIVE ANSWER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972" y="797242"/>
              <a:ext cx="1050306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四个模块共同回答：做什么、谁来做、如何继续、是否允许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1790700"/>
            <a:ext cx="10248900" cy="571500"/>
            <a:chOff x="914400" y="1790700"/>
            <a:chExt cx="10248900" cy="571500"/>
          </a:xfrm>
        </p:grpSpPr>
        <p:sp>
          <p:nvSpPr>
            <p:cNvPr id="5" name="Line 5"/>
            <p:cNvSpPr/>
            <p:nvPr/>
          </p:nvSpPr>
          <p:spPr>
            <a:xfrm>
              <a:off x="1200150" y="2076450"/>
              <a:ext cx="9677400" cy="9525"/>
            </a:xfrm>
            <a:custGeom>
              <a:avLst/>
              <a:gdLst/>
              <a:ahLst/>
              <a:cxnLst/>
              <a:rect l="l" t="t" r="r" b="b"/>
              <a:pathLst>
                <a:path w="9677400" h="9525">
                  <a:moveTo>
                    <a:pt x="0" y="0"/>
                  </a:moveTo>
                  <a:lnTo>
                    <a:pt x="9677400" y="0"/>
                  </a:lnTo>
                </a:path>
              </a:pathLst>
            </a:custGeom>
            <a:noFill/>
            <a:ln w="114300" cap="rnd">
              <a:solidFill>
                <a:schemeClr val="accent5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200150" y="2076450"/>
              <a:ext cx="9353550" cy="9525"/>
            </a:xfrm>
            <a:custGeom>
              <a:avLst/>
              <a:gdLst/>
              <a:ahLst/>
              <a:cxnLst/>
              <a:rect l="l" t="t" r="r" b="b"/>
              <a:pathLst>
                <a:path w="9353550" h="9525">
                  <a:moveTo>
                    <a:pt x="0" y="0"/>
                  </a:moveTo>
                  <a:lnTo>
                    <a:pt x="9353550" y="0"/>
                  </a:lnTo>
                </a:path>
              </a:pathLst>
            </a:custGeom>
            <a:noFill/>
            <a:ln w="47625" cap="rnd">
              <a:solidFill>
                <a:schemeClr val="accent1"/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10610850" y="19431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14400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4143375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372350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591800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8339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17314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46289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765739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2743200"/>
            <a:ext cx="11087100" cy="2247900"/>
            <a:chOff x="552450" y="2743200"/>
            <a:chExt cx="11087100" cy="2247900"/>
          </a:xfrm>
        </p:grpSpPr>
        <p:sp>
          <p:nvSpPr>
            <p:cNvPr id="17" name="Rectangle 17"/>
            <p:cNvSpPr/>
            <p:nvPr/>
          </p:nvSpPr>
          <p:spPr>
            <a:xfrm>
              <a:off x="552450" y="2743200"/>
              <a:ext cx="25717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305175" y="2743200"/>
              <a:ext cx="25717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57900" y="2743200"/>
              <a:ext cx="25717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810625" y="2743200"/>
              <a:ext cx="2828925" cy="22479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52450" y="2743200"/>
              <a:ext cx="76200" cy="2247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05175" y="2743200"/>
              <a:ext cx="76200" cy="2247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57900" y="2743200"/>
              <a:ext cx="76200" cy="2247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10625" y="2743200"/>
              <a:ext cx="76200" cy="2247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2668" y="2927032"/>
              <a:ext cx="1679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Agent：语义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25393" y="2927032"/>
              <a:ext cx="1679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Agent：执行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8118" y="2927032"/>
              <a:ext cx="23377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 / Skill：状态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30843" y="2927032"/>
              <a:ext cx="15692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S-ABAC：治理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4192" y="3378518"/>
              <a:ext cx="1978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自然语言 → TaskProfile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4192" y="36833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授权候选 → 可解释路由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9620" y="419576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60729" y="43091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条意图用例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26917" y="3378518"/>
              <a:ext cx="2056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TaskGraph → 调度与恢复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26917" y="3683318"/>
              <a:ext cx="1658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48 工具 → 2.17 候选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22345" y="4195762"/>
              <a:ext cx="9610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40.0%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27679" y="4575810"/>
              <a:ext cx="11045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B2 任务闭环率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9642" y="337851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 / 事实 / 程序经验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79642" y="36833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分通道写入与失效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75070" y="4195762"/>
              <a:ext cx="108829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64 / 64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0404" y="4575810"/>
              <a:ext cx="1479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Memory 确定性用例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32367" y="3378518"/>
              <a:ext cx="1761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四道 PEP × 三态决策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32367" y="36833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模型之外强制执行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27795" y="4195762"/>
              <a:ext cx="14381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105 / 105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33129" y="45758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权限核心测试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46354" y="5414010"/>
            <a:ext cx="11093196" cy="526351"/>
            <a:chOff x="546354" y="5414010"/>
            <a:chExt cx="11093196" cy="526351"/>
          </a:xfrm>
        </p:grpSpPr>
        <p:sp>
          <p:nvSpPr>
            <p:cNvPr id="46" name="TextBox 46"/>
            <p:cNvSpPr txBox="1"/>
            <p:nvPr/>
          </p:nvSpPr>
          <p:spPr>
            <a:xfrm>
              <a:off x="546354" y="5414010"/>
              <a:ext cx="1974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30 MIN DEFENSE RHYTHM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2450" y="5695950"/>
              <a:ext cx="6181725" cy="19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34175" y="5695950"/>
              <a:ext cx="1952625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686800" y="5695950"/>
              <a:ext cx="2952750" cy="19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129573" y="5735002"/>
              <a:ext cx="1017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PPT 16–18 min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90530" y="5735002"/>
              <a:ext cx="83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DEMO 5 min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25271" y="5735002"/>
              <a:ext cx="8758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Q&amp;A 7–9 min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4" name="TextBox 54"/>
            <p:cNvSpPr txBox="1"/>
            <p:nvPr/>
          </p:nvSpPr>
          <p:spPr>
            <a:xfrm>
              <a:off x="547116" y="6335078"/>
              <a:ext cx="287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结论：四层职责不能由一个 Prompt 互相替代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529079" cy="3441288"/>
            <a:chOff x="590550" y="1230630"/>
            <a:chExt cx="6529079" cy="3441288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839402"/>
              <a:ext cx="238285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3487102"/>
              <a:ext cx="290045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决策与路由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799" y="4363879"/>
              <a:ext cx="64418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从分类一句话，升级为生成 TaskProfile 与可审计 RoutingDecision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77150" y="1276350"/>
            <a:ext cx="3838575" cy="3695700"/>
            <a:chOff x="7677150" y="1276350"/>
            <a:chExt cx="3838575" cy="3695700"/>
          </a:xfrm>
        </p:grpSpPr>
        <p:sp>
          <p:nvSpPr>
            <p:cNvPr id="8" name="Ellipse 8"/>
            <p:cNvSpPr/>
            <p:nvPr/>
          </p:nvSpPr>
          <p:spPr>
            <a:xfrm>
              <a:off x="7677150" y="1276350"/>
              <a:ext cx="3695700" cy="3695700"/>
            </a:xfrm>
            <a:prstGeom prst="ellipse">
              <a:avLst/>
            </a:prstGeom>
            <a:noFill/>
            <a:ln w="20955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772525" y="2171700"/>
              <a:ext cx="2743200" cy="2743200"/>
            </a:xfrm>
            <a:prstGeom prst="ellipse">
              <a:avLst/>
            </a:prstGeom>
            <a:noFill/>
            <a:ln w="142875">
              <a:solidFill>
                <a:schemeClr val="accent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210550" y="1743075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153650" y="19240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086975" y="41719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46994" y="19959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理解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90094" y="21769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过滤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23419" y="44248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路由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47992" y="3020854"/>
              <a:ext cx="126826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6275" y="5581650"/>
            <a:ext cx="5121256" cy="526256"/>
            <a:chOff x="676275" y="5581650"/>
            <a:chExt cx="5121256" cy="526256"/>
          </a:xfrm>
        </p:grpSpPr>
        <p:sp>
          <p:nvSpPr>
            <p:cNvPr id="18" name="Line 18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6275" y="5741194"/>
              <a:ext cx="512125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模型“理解了”，并不等于系统“可以执行”。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1" name="Ellipse 21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80060"/>
            <a:ext cx="7972565" cy="1172147"/>
            <a:chOff x="539496" y="480060"/>
            <a:chExt cx="7972565" cy="1172147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80060"/>
              <a:ext cx="2658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MAIN AGENT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79725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通用框架给出编排原语，SuperAgent 把业务契约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496" y="1153478"/>
              <a:ext cx="43512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与权限约束前置到路由之前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1847850"/>
            <a:ext cx="11087100" cy="3971925"/>
            <a:chOff x="552450" y="1847850"/>
            <a:chExt cx="11087100" cy="3971925"/>
          </a:xfrm>
        </p:grpSpPr>
        <p:sp>
          <p:nvSpPr>
            <p:cNvPr id="6" name="Rectangle 6"/>
            <p:cNvSpPr/>
            <p:nvPr/>
          </p:nvSpPr>
          <p:spPr>
            <a:xfrm>
              <a:off x="552450" y="1847850"/>
              <a:ext cx="110871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810625" y="2362200"/>
              <a:ext cx="2828925" cy="34480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2190750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400550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600825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810625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52450" y="321945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52450" y="407670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52450" y="493395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52450" y="581025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7423" y="20340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比较维度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72055" y="2034064"/>
              <a:ext cx="16471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OpenAI Agents SDK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45051" y="2034064"/>
              <a:ext cx="720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AutoGen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45815" y="2034064"/>
              <a:ext cx="919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LangGraph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10660" y="2034064"/>
              <a:ext cx="10193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7042" y="2578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决策入口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75154" y="2594610"/>
              <a:ext cx="1480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Manager / handoff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84954" y="2594610"/>
              <a:ext cx="14969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SelectorGroupChat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85229" y="2594610"/>
              <a:ext cx="16366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Router + StateGraph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5029" y="2537460"/>
              <a:ext cx="9632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95029" y="2785110"/>
              <a:ext cx="13712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RoutingDecision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7042" y="34356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候选约束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75154" y="3413760"/>
              <a:ext cx="1327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由应用组织 Agent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84954" y="34137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候选函数可缩小集合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85229" y="34137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图节点由业务定义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95029" y="3356610"/>
              <a:ext cx="1444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授权 Agent 硬过滤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95029" y="3604260"/>
              <a:ext cx="1861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动作 / 范围 / 风险 / 在线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7042" y="42929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权限位置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75154" y="42710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应用侧补充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84954" y="42710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业务合同自行实现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85229" y="4271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图校验自行实现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95029" y="42138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评分前置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95029" y="44615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权限不是可抵消权重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7042" y="5150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审计输出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75154" y="5128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追踪由应用组合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84954" y="5128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群聊消息与事件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85229" y="51282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状态与持久化轨迹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95410" y="5079206"/>
              <a:ext cx="16862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Top-K / reason_codes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95410" y="5345906"/>
              <a:ext cx="1413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trace_id / 排除原因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734300" y="1581150"/>
            <a:ext cx="3905250" cy="314706"/>
            <a:chOff x="7734300" y="1581150"/>
            <a:chExt cx="3905250" cy="314706"/>
          </a:xfrm>
        </p:grpSpPr>
        <p:sp>
          <p:nvSpPr>
            <p:cNvPr id="46" name="Rectangle 46"/>
            <p:cNvSpPr/>
            <p:nvPr/>
          </p:nvSpPr>
          <p:spPr>
            <a:xfrm>
              <a:off x="7734300" y="1581150"/>
              <a:ext cx="39052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87085" y="1661160"/>
              <a:ext cx="3599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差异不是新 handoff，而是先构造合法候选集合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9" name="TextBox 49"/>
            <p:cNvSpPr txBox="1"/>
            <p:nvPr/>
          </p:nvSpPr>
          <p:spPr>
            <a:xfrm>
              <a:off x="547116" y="6249352"/>
              <a:ext cx="3558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口径：基于产品官方能力边界，不跨评测集比较“准确率”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6448" y="480060"/>
            <a:ext cx="5820327" cy="862775"/>
            <a:chOff x="536448" y="480060"/>
            <a:chExt cx="5820327" cy="862775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80060"/>
              <a:ext cx="22534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ROUTING CONTRACT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6448" y="726758"/>
              <a:ext cx="58203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权限先硬过滤，再谈语义匹配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867400" y="438150"/>
            <a:ext cx="5772150" cy="723900"/>
            <a:chOff x="5867400" y="438150"/>
            <a:chExt cx="5772150" cy="723900"/>
          </a:xfrm>
        </p:grpSpPr>
        <p:sp>
          <p:nvSpPr>
            <p:cNvPr id="5" name="Rectangle 5"/>
            <p:cNvSpPr/>
            <p:nvPr/>
          </p:nvSpPr>
          <p:spPr>
            <a:xfrm>
              <a:off x="5867400" y="438150"/>
              <a:ext cx="5772150" cy="7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71235" y="583406"/>
              <a:ext cx="892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RouteScore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72188" y="874395"/>
              <a:ext cx="53889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0.35 intent + 0.25 capability + 0.15 scenario + 0.10 scope + 0.10 history + 0.05 availability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52450" y="1714500"/>
            <a:ext cx="11087100" cy="1600200"/>
            <a:chOff x="552450" y="1714500"/>
            <a:chExt cx="11087100" cy="1600200"/>
          </a:xfrm>
        </p:grpSpPr>
        <p:sp>
          <p:nvSpPr>
            <p:cNvPr id="9" name="Line 9"/>
            <p:cNvSpPr/>
            <p:nvPr/>
          </p:nvSpPr>
          <p:spPr>
            <a:xfrm>
              <a:off x="1581150" y="2514600"/>
              <a:ext cx="8705850" cy="9525"/>
            </a:xfrm>
            <a:custGeom>
              <a:avLst/>
              <a:gdLst/>
              <a:ahLst/>
              <a:cxnLst/>
              <a:rect l="l" t="t" r="r" b="b"/>
              <a:pathLst>
                <a:path w="8705850" h="9525">
                  <a:moveTo>
                    <a:pt x="0" y="0"/>
                  </a:moveTo>
                  <a:lnTo>
                    <a:pt x="8705850" y="0"/>
                  </a:lnTo>
                </a:path>
              </a:pathLst>
            </a:custGeom>
            <a:noFill/>
            <a:ln w="95250" cap="rnd">
              <a:solidFill>
                <a:schemeClr val="accent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581150" y="2514600"/>
              <a:ext cx="8420100" cy="9525"/>
            </a:xfrm>
            <a:custGeom>
              <a:avLst/>
              <a:gdLst/>
              <a:ahLst/>
              <a:cxnLst/>
              <a:rect l="l" t="t" r="r" b="b"/>
              <a:pathLst>
                <a:path w="8420100" h="9525">
                  <a:moveTo>
                    <a:pt x="0" y="0"/>
                  </a:moveTo>
                  <a:lnTo>
                    <a:pt x="84201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10001250" y="23717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42875"/>
                  </a:move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1943100"/>
              <a:ext cx="1809750" cy="1143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743200" y="1714500"/>
              <a:ext cx="2095500" cy="1600200"/>
            </a:xfrm>
            <a:prstGeom prst="rect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219700" y="1943100"/>
              <a:ext cx="2038350" cy="1143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0" y="1943100"/>
              <a:ext cx="1809750" cy="1143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829800" y="1943100"/>
              <a:ext cx="1809750" cy="11430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48649" y="21893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用户请求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2165" y="25374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自然语言 + 会话状态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88901" y="1914525"/>
              <a:ext cx="12040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47035" y="2278856"/>
              <a:ext cx="1888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 / 子意图 / 实体 / 动作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47035" y="2545556"/>
              <a:ext cx="2039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数据范围 / 风险 / 否定 / 依赖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47416" y="2915602"/>
              <a:ext cx="149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authorized_agent_ids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93258" y="2189321"/>
              <a:ext cx="16912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AgentCard 硬过滤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32507" y="2526506"/>
              <a:ext cx="2212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授权 · 在线 · 动作 · 范围 · 风险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34890" y="21893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可解释评分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25796" y="2526506"/>
              <a:ext cx="12362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Top-K + 排除原因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26718" y="21893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终态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54336" y="2534602"/>
              <a:ext cx="11606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ROUTE / CLARIFY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82910" y="2763202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REJECT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81600" y="3086100"/>
            <a:ext cx="4095750" cy="1162050"/>
            <a:chOff x="5181600" y="3086100"/>
            <a:chExt cx="4095750" cy="1162050"/>
          </a:xfrm>
        </p:grpSpPr>
        <p:sp>
          <p:nvSpPr>
            <p:cNvPr id="31" name="Line 31"/>
            <p:cNvSpPr/>
            <p:nvPr/>
          </p:nvSpPr>
          <p:spPr>
            <a:xfrm>
              <a:off x="6238875" y="308610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28575">
              <a:solidFill>
                <a:srgbClr val="AAB7C4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6134100" y="3695700"/>
              <a:ext cx="209550" cy="190500"/>
            </a:xfrm>
            <a:custGeom>
              <a:avLst/>
              <a:gdLst/>
              <a:ahLst/>
              <a:cxnLst/>
              <a:rect l="l" t="t" r="r" b="b"/>
              <a:pathLst>
                <a:path w="209550" h="190500">
                  <a:moveTo>
                    <a:pt x="104775" y="190500"/>
                  </a:moveTo>
                  <a:lnTo>
                    <a:pt x="0" y="0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AAB7C4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81600" y="3886200"/>
              <a:ext cx="4095750" cy="361950"/>
            </a:xfrm>
            <a:prstGeom prst="rect">
              <a:avLst/>
            </a:prstGeom>
            <a:solidFill>
              <a:srgbClr val="EEF2F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373700" y="3994785"/>
              <a:ext cx="3711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8798A"/>
                  </a:solidFill>
                  <a:latin typeface="+mn-lt"/>
                  <a:ea typeface="+mn-ea"/>
                  <a:cs typeface="+mn-cs"/>
                </a:rPr>
                <a:t>被过滤候选：保留 reason_codes，但绝不进入评分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45592" y="4552950"/>
            <a:ext cx="11093958" cy="1566101"/>
            <a:chOff x="545592" y="4552950"/>
            <a:chExt cx="11093958" cy="1566101"/>
          </a:xfrm>
        </p:grpSpPr>
        <p:sp>
          <p:nvSpPr>
            <p:cNvPr id="36" name="Rectangle 36"/>
            <p:cNvSpPr/>
            <p:nvPr/>
          </p:nvSpPr>
          <p:spPr>
            <a:xfrm>
              <a:off x="552450" y="4552950"/>
              <a:ext cx="3409950" cy="1219200"/>
            </a:xfrm>
            <a:prstGeom prst="rect">
              <a:avLst/>
            </a:prstGeom>
            <a:solidFill>
              <a:srgbClr val="EAF4F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143375" y="4552950"/>
              <a:ext cx="3409950" cy="12192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734300" y="4552950"/>
              <a:ext cx="3905250" cy="1219200"/>
            </a:xfrm>
            <a:prstGeom prst="rect">
              <a:avLst/>
            </a:prstGeom>
            <a:solidFill>
              <a:srgbClr val="F8EEE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73049" y="4763929"/>
              <a:ext cx="71213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ROUTE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573" y="5120164"/>
              <a:ext cx="2279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合法候选明确 → 进入 Planner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63974" y="4763929"/>
              <a:ext cx="86551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CLARIFY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65498" y="5120164"/>
              <a:ext cx="21324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 / 范围缺失 → 先问清楚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54899" y="4763929"/>
              <a:ext cx="318988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D95C5C"/>
                  </a:solidFill>
                  <a:latin typeface="Consolas"/>
                  <a:ea typeface="Consolas"/>
                  <a:cs typeface="Consolas"/>
                </a:rPr>
                <a:t>REJECT / NO_CAPABLE_AGENT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56423" y="5120164"/>
              <a:ext cx="2795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无合法候选 → 失败关闭，不降级越权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5592" y="5855018"/>
              <a:ext cx="365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关键约束：权限不能被更高语义分“抵消”。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7" name="TextBox 47"/>
            <p:cNvSpPr txBox="1"/>
            <p:nvPr/>
          </p:nvSpPr>
          <p:spPr>
            <a:xfrm>
              <a:off x="547116" y="6335078"/>
              <a:ext cx="3621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内部契约：TaskProfile / AgentCard / RoutingDecision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4873894" cy="1120902"/>
            <a:chOff x="539496" y="461010"/>
            <a:chExt cx="4873894" cy="112090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801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EVALUATION + WORKING PROTOTYPE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48738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六项指标均超过 90% 目标线，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112520"/>
              <a:ext cx="37560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真实决策台完成链路验证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46354" y="1794510"/>
            <a:ext cx="5812917" cy="3539490"/>
            <a:chOff x="546354" y="1794510"/>
            <a:chExt cx="5812917" cy="3539490"/>
          </a:xfrm>
        </p:grpSpPr>
        <p:sp>
          <p:nvSpPr>
            <p:cNvPr id="6" name="TextBox 6"/>
            <p:cNvSpPr txBox="1"/>
            <p:nvPr/>
          </p:nvSpPr>
          <p:spPr>
            <a:xfrm>
              <a:off x="546354" y="1794510"/>
              <a:ext cx="2666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33 条固定用例 · 统一 0–100% 刻度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956044" y="1963102"/>
              <a:ext cx="4029161" cy="3370898"/>
              <a:chOff x="1956044" y="1963102"/>
              <a:chExt cx="4029161" cy="3370898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2000250" y="22098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2000250" y="52578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2000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3905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5429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5810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956044" y="196310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822173" y="19631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342286" y="196310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90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635295" y="1963102"/>
                <a:ext cx="34991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100%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2000250" y="2305050"/>
                <a:ext cx="3579114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2000250" y="2800350"/>
                <a:ext cx="3675126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2000250" y="3295650"/>
                <a:ext cx="3517011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2000250" y="3790950"/>
                <a:ext cx="3752088" cy="381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000250" y="4286250"/>
                <a:ext cx="3592830" cy="381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000250" y="4781550"/>
                <a:ext cx="3642360" cy="381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46354" y="24422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主意图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6354" y="2937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实体字段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6354" y="3432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依赖完整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6354" y="3928110"/>
              <a:ext cx="1006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子意图 Recall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6354" y="44234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严格整例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6354" y="4918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澄清触发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43880" y="244221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93.94%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43880" y="295656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96.46%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43880" y="3423285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92.31%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53405" y="390906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98.48%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89471" y="4423410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94.3%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189471" y="4918710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95.6%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96050" y="1714500"/>
            <a:ext cx="5143500" cy="3810000"/>
            <a:chOff x="6496050" y="1714500"/>
            <a:chExt cx="5143500" cy="3810000"/>
          </a:xfrm>
        </p:grpSpPr>
        <p:sp>
          <p:nvSpPr>
            <p:cNvPr id="37" name="Rectangle 37"/>
            <p:cNvSpPr/>
            <p:nvPr/>
          </p:nvSpPr>
          <p:spPr>
            <a:xfrm>
              <a:off x="6496050" y="1714500"/>
              <a:ext cx="5143500" cy="3810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01506" y="1885950"/>
              <a:ext cx="4132588" cy="348615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9239250" y="1790700"/>
              <a:ext cx="2095500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77846" y="1897856"/>
              <a:ext cx="1618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真实决策台 / 完整截图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2450" y="5695950"/>
            <a:ext cx="11087100" cy="495300"/>
            <a:chOff x="552450" y="5695950"/>
            <a:chExt cx="11087100" cy="495300"/>
          </a:xfrm>
        </p:grpSpPr>
        <p:sp>
          <p:nvSpPr>
            <p:cNvPr id="42" name="Rectangle 42"/>
            <p:cNvSpPr/>
            <p:nvPr/>
          </p:nvSpPr>
          <p:spPr>
            <a:xfrm>
              <a:off x="552450" y="5695950"/>
              <a:ext cx="110871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092" y="5864542"/>
              <a:ext cx="52422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严格整例 94.3% · 澄清触发 95.6% · 否定动作误执行保持 0%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5" name="TextBox 45"/>
            <p:cNvSpPr txBox="1"/>
            <p:nvPr/>
          </p:nvSpPr>
          <p:spPr>
            <a:xfrm>
              <a:off x="547116" y="6344602"/>
              <a:ext cx="38344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来源：FINAL_EVALUATION_REPORT.md · 主 Agent 评测集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610467" cy="3454432"/>
            <a:chOff x="590550" y="1230630"/>
            <a:chExt cx="6610467" cy="3454432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839402"/>
              <a:ext cx="487235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 协同编排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3487102"/>
              <a:ext cx="290045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与工具选择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037" y="4347686"/>
              <a:ext cx="652398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从“能调用”升级为可校验、可调度、可暂停、可恢复的执行计划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715250" y="1485900"/>
            <a:ext cx="3543300" cy="3590925"/>
            <a:chOff x="7715250" y="1485900"/>
            <a:chExt cx="3543300" cy="3590925"/>
          </a:xfrm>
        </p:grpSpPr>
        <p:sp>
          <p:nvSpPr>
            <p:cNvPr id="8" name="Ellipse 8"/>
            <p:cNvSpPr/>
            <p:nvPr/>
          </p:nvSpPr>
          <p:spPr>
            <a:xfrm>
              <a:off x="7715250" y="1485900"/>
              <a:ext cx="3390900" cy="3390900"/>
            </a:xfrm>
            <a:prstGeom prst="ellipse">
              <a:avLst/>
            </a:prstGeom>
            <a:noFill/>
            <a:ln w="19050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743950" y="2305050"/>
              <a:ext cx="2514600" cy="2514600"/>
            </a:xfrm>
            <a:prstGeom prst="ellipse">
              <a:avLst/>
            </a:prstGeom>
            <a:noFill/>
            <a:ln w="133350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248650" y="2152650"/>
              <a:ext cx="1162050" cy="1028700"/>
            </a:xfrm>
            <a:custGeom>
              <a:avLst/>
              <a:gdLst/>
              <a:ahLst/>
              <a:cxnLst/>
              <a:rect l="l" t="t" r="r" b="b"/>
              <a:pathLst>
                <a:path w="1162050" h="1028700">
                  <a:moveTo>
                    <a:pt x="1162050" y="10287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410700" y="2076450"/>
              <a:ext cx="1181100" cy="1104900"/>
            </a:xfrm>
            <a:custGeom>
              <a:avLst/>
              <a:gdLst/>
              <a:ahLst/>
              <a:cxnLst/>
              <a:rect l="l" t="t" r="r" b="b"/>
              <a:pathLst>
                <a:path w="1181100" h="1104900">
                  <a:moveTo>
                    <a:pt x="0" y="1104900"/>
                  </a:moveTo>
                  <a:lnTo>
                    <a:pt x="11811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410700" y="3181350"/>
              <a:ext cx="1543050" cy="1047750"/>
            </a:xfrm>
            <a:custGeom>
              <a:avLst/>
              <a:gdLst/>
              <a:ahLst/>
              <a:cxnLst/>
              <a:rect l="l" t="t" r="r" b="b"/>
              <a:pathLst>
                <a:path w="1543050" h="1047750">
                  <a:moveTo>
                    <a:pt x="0" y="0"/>
                  </a:moveTo>
                  <a:lnTo>
                    <a:pt x="1543050" y="104775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782050" y="3181350"/>
              <a:ext cx="628650" cy="1600200"/>
            </a:xfrm>
            <a:custGeom>
              <a:avLst/>
              <a:gdLst/>
              <a:ahLst/>
              <a:cxnLst/>
              <a:rect l="l" t="t" r="r" b="b"/>
              <a:pathLst>
                <a:path w="628650" h="1600200">
                  <a:moveTo>
                    <a:pt x="628650" y="0"/>
                  </a:moveTo>
                  <a:lnTo>
                    <a:pt x="0" y="16002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8991600" y="276225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953375" y="185737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96525" y="178117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0658475" y="393382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486775" y="448627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82054" y="3102292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PLAN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84622" y="20883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校验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27772" y="20121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89722" y="41648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暂停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18022" y="47172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恢复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6275" y="5581650"/>
            <a:ext cx="5865327" cy="526256"/>
            <a:chOff x="676275" y="5581650"/>
            <a:chExt cx="5865327" cy="526256"/>
          </a:xfrm>
        </p:grpSpPr>
        <p:sp>
          <p:nvSpPr>
            <p:cNvPr id="25" name="Line 25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6275" y="5741194"/>
              <a:ext cx="586532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计划不是一段文本，而是一份受信任的执行契约。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8" name="Ellipse 28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210" y="461010"/>
            <a:ext cx="10486053" cy="868680"/>
            <a:chOff x="537210" y="461010"/>
            <a:chExt cx="10486053" cy="868680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0768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ORCHESTRATION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210" y="742950"/>
              <a:ext cx="1048605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从自由聊天转向“候选计划 + 确定性校验 + TaskGraph”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2450" y="1466850"/>
            <a:ext cx="11087100" cy="1428750"/>
            <a:chOff x="552450" y="1466850"/>
            <a:chExt cx="11087100" cy="1428750"/>
          </a:xfrm>
        </p:grpSpPr>
        <p:sp>
          <p:nvSpPr>
            <p:cNvPr id="5" name="Rectangle 5"/>
            <p:cNvSpPr/>
            <p:nvPr/>
          </p:nvSpPr>
          <p:spPr>
            <a:xfrm>
              <a:off x="55245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74320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93395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2470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315450" y="1466850"/>
              <a:ext cx="2324100" cy="142875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5330" y="1647825"/>
              <a:ext cx="611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ReAct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6854" y="2004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动态适应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7235" y="22788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路径难提前整体校验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26080" y="1647825"/>
              <a:ext cx="844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AutoGen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27604" y="20040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对话协作灵活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27985" y="2278856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消息 / 状态 / 结果易混合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16830" y="1647825"/>
              <a:ext cx="1077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LangGraph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18354" y="2004060"/>
              <a:ext cx="1475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显式图与 Interrupt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18735" y="22788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业务合同由应用补充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07580" y="164782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A2A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09104" y="20040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互操作对象统一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9485" y="227885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不负责组织内权限 / 工具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98330" y="1647825"/>
              <a:ext cx="11945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99854" y="2004060"/>
              <a:ext cx="19034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开放式分解 + 确定性证明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00235" y="2278856"/>
              <a:ext cx="15763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输出可执行 TaskGraph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45973" y="3367564"/>
            <a:ext cx="11093577" cy="2071592"/>
            <a:chOff x="545973" y="3367564"/>
            <a:chExt cx="11093577" cy="2071592"/>
          </a:xfrm>
        </p:grpSpPr>
        <p:sp>
          <p:nvSpPr>
            <p:cNvPr id="26" name="TextBox 26"/>
            <p:cNvSpPr txBox="1"/>
            <p:nvPr/>
          </p:nvSpPr>
          <p:spPr>
            <a:xfrm>
              <a:off x="545973" y="3367564"/>
              <a:ext cx="2029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TRUSTED PLAN PIPELINE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200150" y="4210050"/>
              <a:ext cx="9734550" cy="9525"/>
            </a:xfrm>
            <a:custGeom>
              <a:avLst/>
              <a:gdLst/>
              <a:ahLst/>
              <a:cxnLst/>
              <a:rect l="l" t="t" r="r" b="b"/>
              <a:pathLst>
                <a:path w="9734550" h="9525">
                  <a:moveTo>
                    <a:pt x="0" y="0"/>
                  </a:moveTo>
                  <a:lnTo>
                    <a:pt x="9734550" y="0"/>
                  </a:lnTo>
                </a:path>
              </a:pathLst>
            </a:custGeom>
            <a:noFill/>
            <a:ln w="76200" cap="rnd">
              <a:solidFill>
                <a:schemeClr val="accent5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200150" y="4210050"/>
              <a:ext cx="9429750" cy="9525"/>
            </a:xfrm>
            <a:custGeom>
              <a:avLst/>
              <a:gdLst/>
              <a:ahLst/>
              <a:cxnLst/>
              <a:rect l="l" t="t" r="r" b="b"/>
              <a:pathLst>
                <a:path w="9429750" h="9525">
                  <a:moveTo>
                    <a:pt x="0" y="0"/>
                  </a:moveTo>
                  <a:lnTo>
                    <a:pt x="94297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10648950" y="40671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42875"/>
                  </a:move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5245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09550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63855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8160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2465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26770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810750" y="3790950"/>
              <a:ext cx="1828800" cy="838200"/>
            </a:xfrm>
            <a:prstGeom prst="rect">
              <a:avLst/>
            </a:prstGeom>
            <a:solidFill>
              <a:srgbClr val="EAF4FB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9170" y="4031456"/>
              <a:ext cx="899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0689" y="428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语义契约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78792" y="4031456"/>
              <a:ext cx="585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Planner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83739" y="428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候选计划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71640" y="40314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归一化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45512" y="4287202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字段 / 引用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35534" y="40314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覆盖校验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99164" y="42872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需求不丢失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00358" y="3974306"/>
              <a:ext cx="1201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Contract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57078" y="4230052"/>
              <a:ext cx="1287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输入 / 输出 Schema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36802" y="4031456"/>
              <a:ext cx="814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依赖 + DAG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33311" y="428720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无环 / 数据可达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22681" y="3974306"/>
              <a:ext cx="804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TaskGraph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25100" y="4230052"/>
              <a:ext cx="8001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Scheduler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400925" y="462915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2771775" y="5067300"/>
              <a:ext cx="4629150" cy="9525"/>
            </a:xfrm>
            <a:custGeom>
              <a:avLst/>
              <a:gdLst/>
              <a:ahLst/>
              <a:cxnLst/>
              <a:rect l="l" t="t" r="r" b="b"/>
              <a:pathLst>
                <a:path w="4629150" h="9525">
                  <a:moveTo>
                    <a:pt x="46291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2619375" y="4953000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0" y="114300"/>
                  </a:moveTo>
                  <a:lnTo>
                    <a:pt x="209550" y="0"/>
                  </a:lnTo>
                  <a:lnTo>
                    <a:pt x="209550" y="2286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507090" y="5204460"/>
              <a:ext cx="5196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任何校验失败 → 返回 Planner 或进入澄清；不直接放行给 Scheduler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4830" y="5857875"/>
            <a:ext cx="7622956" cy="293370"/>
            <a:chOff x="544830" y="5857875"/>
            <a:chExt cx="7622956" cy="293370"/>
          </a:xfrm>
        </p:grpSpPr>
        <p:sp>
          <p:nvSpPr>
            <p:cNvPr id="56" name="TextBox 56"/>
            <p:cNvSpPr txBox="1"/>
            <p:nvPr/>
          </p:nvSpPr>
          <p:spPr>
            <a:xfrm>
              <a:off x="544830" y="5857875"/>
              <a:ext cx="7622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负责开放式分解；系统负责证明 Agent、Schema、数据依赖与 DAG 合法。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8" name="TextBox 58"/>
            <p:cNvSpPr txBox="1"/>
            <p:nvPr/>
          </p:nvSpPr>
          <p:spPr>
            <a:xfrm>
              <a:off x="547116" y="6335078"/>
              <a:ext cx="43457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来源：OpenAI Agents SDK · AutoGen · LangGraph · A2A 官方文档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6874364" cy="1120902"/>
            <a:chOff x="539496" y="461010"/>
            <a:chExt cx="6874364" cy="112090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50622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CONTROL PLANE × DATA PLANE × TOOL RESOLVER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68743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控制面决定何时执行，数据面决定传什么；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112520"/>
              <a:ext cx="4841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48 个工具先收敛到 2.17 个候选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45973" y="1843564"/>
            <a:ext cx="5969127" cy="3795236"/>
            <a:chOff x="545973" y="1843564"/>
            <a:chExt cx="5969127" cy="3795236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843564"/>
              <a:ext cx="44297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双轨解耦：只有 StepResult.outputs 连接控制与数据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228850"/>
              <a:ext cx="5962650" cy="1409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52450" y="3905250"/>
              <a:ext cx="5962650" cy="1733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52450" y="2228850"/>
              <a:ext cx="76200" cy="140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905250"/>
              <a:ext cx="76200" cy="1733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3811" y="24179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控制面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5335" y="27360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状态、依赖、调度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866900" y="2495550"/>
              <a:ext cx="1200150" cy="6286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09950" y="2495550"/>
              <a:ext cx="1200150" cy="6286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953000" y="2495550"/>
              <a:ext cx="1333500" cy="6286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067050" y="28098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610100" y="28098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64506" y="2745581"/>
              <a:ext cx="804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TaskGraph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29934" y="2745581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Scheduler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93758" y="2745581"/>
              <a:ext cx="851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StepResult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811" y="41324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335" y="4450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产物、引用、血缘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695450" y="4305300"/>
              <a:ext cx="102870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028950" y="4305300"/>
              <a:ext cx="102870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362450" y="4305300"/>
              <a:ext cx="102870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695950" y="4305300"/>
              <a:ext cx="59055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2724150" y="46005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4057650" y="46005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5391150" y="46005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983940" y="4536281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06761" y="4536281"/>
              <a:ext cx="673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Artifact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36623" y="4544378"/>
              <a:ext cx="88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ArtifactRef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79505" y="4544378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619750" y="3124200"/>
              <a:ext cx="9525" cy="1066800"/>
            </a:xfrm>
            <a:custGeom>
              <a:avLst/>
              <a:gdLst/>
              <a:ahLst/>
              <a:cxnLst/>
              <a:rect l="l" t="t" r="r" b="b"/>
              <a:pathLst>
                <a:path w="9525" h="1066800">
                  <a:moveTo>
                    <a:pt x="0" y="0"/>
                  </a:moveTo>
                  <a:lnTo>
                    <a:pt x="0" y="10668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prstDash val="dash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28705" y="3572828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outputs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4954" y="5204460"/>
              <a:ext cx="3574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控制面不携带大对象；数据面不决定执行顺序。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889623" y="1843564"/>
            <a:ext cx="4454652" cy="2385536"/>
            <a:chOff x="6889623" y="1843564"/>
            <a:chExt cx="4454652" cy="2385536"/>
          </a:xfrm>
        </p:grpSpPr>
        <p:sp>
          <p:nvSpPr>
            <p:cNvPr id="38" name="TextBox 38"/>
            <p:cNvSpPr txBox="1"/>
            <p:nvPr/>
          </p:nvSpPr>
          <p:spPr>
            <a:xfrm>
              <a:off x="6889623" y="1843564"/>
              <a:ext cx="22383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确定性过滤 → 评分 → 可弃权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7715250" y="2247900"/>
              <a:ext cx="3629025" cy="1238250"/>
              <a:chOff x="7715250" y="2247900"/>
              <a:chExt cx="3629025" cy="1238250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7715250" y="2324100"/>
                <a:ext cx="361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9525">
                    <a:moveTo>
                      <a:pt x="0" y="0"/>
                    </a:moveTo>
                    <a:lnTo>
                      <a:pt x="36195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7715250" y="3409950"/>
                <a:ext cx="361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9525">
                    <a:moveTo>
                      <a:pt x="0" y="0"/>
                    </a:moveTo>
                    <a:lnTo>
                      <a:pt x="36195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7715250" y="2247900"/>
                <a:ext cx="9525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0">
                    <a:moveTo>
                      <a:pt x="0" y="0"/>
                    </a:moveTo>
                    <a:lnTo>
                      <a:pt x="0" y="123825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11334750" y="2247900"/>
                <a:ext cx="9525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0">
                    <a:moveTo>
                      <a:pt x="0" y="0"/>
                    </a:moveTo>
                    <a:lnTo>
                      <a:pt x="0" y="123825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7715250" y="2476500"/>
                <a:ext cx="3619500" cy="342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7715250" y="3028950"/>
                <a:ext cx="163640" cy="342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890004" y="2585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工具目录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90004" y="31375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平均候选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17416" y="2536508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12430" y="3105150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2.17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715250" y="3714750"/>
              <a:ext cx="150495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410700" y="3714750"/>
              <a:ext cx="1924050" cy="5143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21214" y="3909060"/>
              <a:ext cx="8930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Top-K 评分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75006" y="3909060"/>
              <a:ext cx="1195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Tool / ABSTAIN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896100" y="4514850"/>
            <a:ext cx="4743450" cy="1123950"/>
            <a:chOff x="6896100" y="4514850"/>
            <a:chExt cx="4743450" cy="1123950"/>
          </a:xfrm>
        </p:grpSpPr>
        <p:sp>
          <p:nvSpPr>
            <p:cNvPr id="55" name="Rectangle 55"/>
            <p:cNvSpPr/>
            <p:nvPr/>
          </p:nvSpPr>
          <p:spPr>
            <a:xfrm>
              <a:off x="6896100" y="4514850"/>
              <a:ext cx="11049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096250" y="4514850"/>
              <a:ext cx="11049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296400" y="4514850"/>
              <a:ext cx="11049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496550" y="4514850"/>
              <a:ext cx="11430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34088" y="4758690"/>
              <a:ext cx="628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64356" y="5125402"/>
              <a:ext cx="9683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Top-1 / Top-3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34238" y="4758690"/>
              <a:ext cx="628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29581" y="5125402"/>
              <a:ext cx="838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Schema 有效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69737" y="4758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60814" y="5125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工具幻觉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75486" y="4758690"/>
              <a:ext cx="9851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1.51 ms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780014" y="5125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平均耗时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45973" y="5939314"/>
            <a:ext cx="7316533" cy="249364"/>
            <a:chOff x="545973" y="5939314"/>
            <a:chExt cx="7316533" cy="249364"/>
          </a:xfrm>
        </p:grpSpPr>
        <p:sp>
          <p:nvSpPr>
            <p:cNvPr id="68" name="TextBox 68"/>
            <p:cNvSpPr txBox="1"/>
            <p:nvPr/>
          </p:nvSpPr>
          <p:spPr>
            <a:xfrm>
              <a:off x="545973" y="5939314"/>
              <a:ext cx="73165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边界：当前 Tool Resolver 主要以 audit 模式接入；固定评测集不代表开放工具环境泛化。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70" name="TextBox 70"/>
            <p:cNvSpPr txBox="1"/>
            <p:nvPr/>
          </p:nvSpPr>
          <p:spPr>
            <a:xfrm>
              <a:off x="547116" y="6335078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来源：多智能体协同与执行编排机制调研及原型成果报告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7162720" cy="1120902"/>
            <a:chOff x="539496" y="461010"/>
            <a:chExt cx="7162720" cy="112090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2951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INTERRUPTION + RECOVERY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71627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恢复机制把闭环率从 12.4% 提升到 40.0%，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11252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且未引入重复副作用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45973" y="1843564"/>
            <a:ext cx="5626227" cy="1436370"/>
            <a:chOff x="545973" y="1843564"/>
            <a:chExt cx="5626227" cy="1436370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843564"/>
              <a:ext cx="2925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暂停是显式状态机，不是“停掉线程”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266950"/>
              <a:ext cx="1200150" cy="59055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2000250" y="2266950"/>
              <a:ext cx="1695450" cy="59055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943350" y="2266950"/>
              <a:ext cx="1200150" cy="59055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91150" y="2266950"/>
              <a:ext cx="781050" cy="59055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752600" y="25622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695700" y="25622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143500" y="25622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5716" y="2507456"/>
              <a:ext cx="613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RUNNING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80078" y="2515552"/>
              <a:ext cx="133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PAUSE_REQUESTED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61708" y="2507456"/>
              <a:ext cx="563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PAUSED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46965" y="251555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RUN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6735" y="3059906"/>
              <a:ext cx="4537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在安全点落盘；恢复时从 Checkpoint 继续，不重放已确认副作用。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5973" y="3767614"/>
            <a:ext cx="5626227" cy="1417320"/>
            <a:chOff x="545973" y="3767614"/>
            <a:chExt cx="5626227" cy="1417320"/>
          </a:xfrm>
        </p:grpSpPr>
        <p:sp>
          <p:nvSpPr>
            <p:cNvPr id="20" name="TextBox 20"/>
            <p:cNvSpPr txBox="1"/>
            <p:nvPr/>
          </p:nvSpPr>
          <p:spPr>
            <a:xfrm>
              <a:off x="545973" y="3767614"/>
              <a:ext cx="21841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提交顺序：先证据，后状态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52450" y="4171950"/>
              <a:ext cx="158115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343150" y="4171950"/>
              <a:ext cx="158115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133850" y="4171950"/>
              <a:ext cx="2038350" cy="60960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133600" y="44767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924300" y="44767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9051" y="4404360"/>
              <a:ext cx="1387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Artifact Payload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79853" y="4404360"/>
              <a:ext cx="907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Checkpoint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38065" y="44043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标记步骤完成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6735" y="4964906"/>
              <a:ext cx="3850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未知外部状态 → NEEDS_RECONCILIATION → 人工对账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603873" y="1843564"/>
            <a:ext cx="4730877" cy="3214592"/>
            <a:chOff x="6603873" y="1843564"/>
            <a:chExt cx="4730877" cy="3214592"/>
          </a:xfrm>
        </p:grpSpPr>
        <p:sp>
          <p:nvSpPr>
            <p:cNvPr id="31" name="TextBox 31"/>
            <p:cNvSpPr txBox="1"/>
            <p:nvPr/>
          </p:nvSpPr>
          <p:spPr>
            <a:xfrm>
              <a:off x="6603873" y="1843564"/>
              <a:ext cx="3636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500 次 / 策略 · 固定种子 · Stub + 故障注入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6819767" y="2324100"/>
              <a:ext cx="4514983" cy="2520887"/>
              <a:chOff x="6819767" y="2324100"/>
              <a:chExt cx="4514983" cy="2520887"/>
            </a:xfrm>
          </p:grpSpPr>
          <p:sp>
            <p:nvSpPr>
              <p:cNvPr id="32" name="Line 32"/>
              <p:cNvSpPr/>
              <p:nvPr/>
            </p:nvSpPr>
            <p:spPr>
              <a:xfrm>
                <a:off x="7181850" y="2324100"/>
                <a:ext cx="9525" cy="2381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0">
                    <a:moveTo>
                      <a:pt x="0" y="0"/>
                    </a:moveTo>
                    <a:lnTo>
                      <a:pt x="0" y="238125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7181850" y="47053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7181850" y="41338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7181850" y="35623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7181850" y="29908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7181850" y="24193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003523" y="4639628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925780" y="40681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925780" y="34966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20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925780" y="29251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30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819767" y="2353628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40%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7705725" y="3996690"/>
                <a:ext cx="400050" cy="70866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162925" y="4705350"/>
                <a:ext cx="400050" cy="95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9001125" y="3150870"/>
                <a:ext cx="400050" cy="155448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9458325" y="3739515"/>
                <a:ext cx="400050" cy="96583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10296525" y="2419350"/>
                <a:ext cx="400050" cy="2286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10753725" y="2905125"/>
                <a:ext cx="400050" cy="18002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058257" y="4823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53657" y="4823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49057" y="4823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448550" y="2038350"/>
              <a:ext cx="1714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90866" y="20202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任务闭环率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915400" y="2038350"/>
              <a:ext cx="1714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57716" y="20202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首次失败后恢复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10350" y="5391150"/>
            <a:ext cx="5029200" cy="609600"/>
            <a:chOff x="6610350" y="5391150"/>
            <a:chExt cx="5029200" cy="609600"/>
          </a:xfrm>
        </p:grpSpPr>
        <p:sp>
          <p:nvSpPr>
            <p:cNvPr id="58" name="Rectangle 58"/>
            <p:cNvSpPr/>
            <p:nvPr/>
          </p:nvSpPr>
          <p:spPr>
            <a:xfrm>
              <a:off x="6610350" y="5391150"/>
              <a:ext cx="2419350" cy="60960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220200" y="5391150"/>
              <a:ext cx="2419350" cy="60960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92468" y="559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18604" y="56426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重复副作用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02318" y="559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28454" y="5642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治理违规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52450" y="5391150"/>
            <a:ext cx="5619750" cy="612934"/>
            <a:chOff x="552450" y="5391150"/>
            <a:chExt cx="5619750" cy="612934"/>
          </a:xfrm>
        </p:grpSpPr>
        <p:sp>
          <p:nvSpPr>
            <p:cNvPr id="65" name="Rectangle 65"/>
            <p:cNvSpPr/>
            <p:nvPr/>
          </p:nvSpPr>
          <p:spPr>
            <a:xfrm>
              <a:off x="552450" y="5391150"/>
              <a:ext cx="5619750" cy="6096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7235" y="5536406"/>
              <a:ext cx="2861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实验用于机制比较，不代表生产成功率。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7235" y="5784056"/>
              <a:ext cx="3954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自动重试 / 改派主要限于只读步骤；写入不确定时转人工。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69" name="TextBox 69"/>
            <p:cNvSpPr txBox="1"/>
            <p:nvPr/>
          </p:nvSpPr>
          <p:spPr>
            <a:xfrm>
              <a:off x="547116" y="6335078"/>
              <a:ext cx="39574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来源：FINAL_EVALUATION_REPORT.md · 恢复机制对照实验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461292" cy="3422238"/>
            <a:chOff x="590550" y="1230630"/>
            <a:chExt cx="6461292" cy="3422238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934652"/>
              <a:ext cx="310654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记忆与 Skill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7037" y="3871436"/>
              <a:ext cx="457208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上下文压缩｜长期记忆｜步骤 / 智能体 Skill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799" y="4344829"/>
              <a:ext cx="63740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三种“记住”必须分治，才能同时控制 Token、隐私和复用风险。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315200" y="1676400"/>
            <a:ext cx="4152900" cy="3048000"/>
            <a:chOff x="7315200" y="1676400"/>
            <a:chExt cx="4152900" cy="3048000"/>
          </a:xfrm>
        </p:grpSpPr>
        <p:sp>
          <p:nvSpPr>
            <p:cNvPr id="8" name="Ellipse 8"/>
            <p:cNvSpPr/>
            <p:nvPr/>
          </p:nvSpPr>
          <p:spPr>
            <a:xfrm>
              <a:off x="9105900" y="2019300"/>
              <a:ext cx="2362200" cy="2362200"/>
            </a:xfrm>
            <a:prstGeom prst="ellipse">
              <a:avLst/>
            </a:prstGeom>
            <a:noFill/>
            <a:ln w="15240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639300" y="2590800"/>
              <a:ext cx="1676400" cy="1676400"/>
            </a:xfrm>
            <a:prstGeom prst="ellipse">
              <a:avLst/>
            </a:prstGeom>
            <a:noFill/>
            <a:ln w="104775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600950" y="1962150"/>
              <a:ext cx="1924050" cy="857250"/>
            </a:xfrm>
            <a:custGeom>
              <a:avLst/>
              <a:gdLst/>
              <a:ahLst/>
              <a:cxnLst/>
              <a:rect l="l" t="t" r="r" b="b"/>
              <a:pathLst>
                <a:path w="1924050" h="857250">
                  <a:moveTo>
                    <a:pt x="0" y="0"/>
                  </a:moveTo>
                  <a:lnTo>
                    <a:pt x="1924050" y="8572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600950" y="3200400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00950" y="3581400"/>
              <a:ext cx="1924050" cy="857250"/>
            </a:xfrm>
            <a:custGeom>
              <a:avLst/>
              <a:gdLst/>
              <a:ahLst/>
              <a:cxnLst/>
              <a:rect l="l" t="t" r="r" b="b"/>
              <a:pathLst>
                <a:path w="1924050" h="857250">
                  <a:moveTo>
                    <a:pt x="0" y="857250"/>
                  </a:moveTo>
                  <a:lnTo>
                    <a:pt x="1924050" y="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7315200" y="16764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315200" y="291465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315200" y="41529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13573" y="18816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会话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13573" y="31199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长期事实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3573" y="43581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程序经验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09129" y="300561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仅注入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09993" y="3234214"/>
              <a:ext cx="7540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63336" y="3601402"/>
              <a:ext cx="1447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不直接污染远端 Agent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6275" y="5581650"/>
            <a:ext cx="6928287" cy="526256"/>
            <a:chOff x="676275" y="5581650"/>
            <a:chExt cx="6928287" cy="526256"/>
          </a:xfrm>
        </p:grpSpPr>
        <p:sp>
          <p:nvSpPr>
            <p:cNvPr id="23" name="Line 23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275" y="5741194"/>
              <a:ext cx="692828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状态的来源、生命周期与失效规则，决定它能否安全复用。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6" name="Ellipse 26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210" y="461010"/>
            <a:ext cx="7239381" cy="868680"/>
            <a:chOff x="537210" y="461010"/>
            <a:chExt cx="7239381" cy="868680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135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MEMORY + SKILL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210" y="742950"/>
              <a:ext cx="723938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会话、长期事实和程序性经验必须分治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2450" y="1466850"/>
            <a:ext cx="11087100" cy="1371600"/>
            <a:chOff x="552450" y="1466850"/>
            <a:chExt cx="11087100" cy="1371600"/>
          </a:xfrm>
        </p:grpSpPr>
        <p:sp>
          <p:nvSpPr>
            <p:cNvPr id="5" name="Rectangle 5"/>
            <p:cNvSpPr/>
            <p:nvPr/>
          </p:nvSpPr>
          <p:spPr>
            <a:xfrm>
              <a:off x="55245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74320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93395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2470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315450" y="1466850"/>
              <a:ext cx="2324100" cy="13716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6092" y="1644968"/>
              <a:ext cx="1506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OpenAI Sessions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7235" y="20121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会话历史持久化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7616" y="22869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面向一段运行会话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26842" y="1644968"/>
              <a:ext cx="970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LangGraph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27985" y="2012156"/>
              <a:ext cx="15671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Checkpointer + Store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28366" y="228695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线程状态 / 跨线程存储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17592" y="1644968"/>
              <a:ext cx="519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18735" y="20121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动态抽取、整合、检索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19116" y="22869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记忆层产品化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08342" y="1644968"/>
              <a:ext cx="754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Voyager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09485" y="2012156"/>
              <a:ext cx="1411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可执行 Skill Library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9866" y="22869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经验沉淀为程序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99092" y="1644968"/>
              <a:ext cx="1075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00235" y="2012156"/>
              <a:ext cx="1618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三通道分治 + 治理门禁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00616" y="22869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先进性在系统组合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2450" y="3181350"/>
            <a:ext cx="11087100" cy="2362200"/>
            <a:chOff x="552450" y="3181350"/>
            <a:chExt cx="11087100" cy="2362200"/>
          </a:xfrm>
        </p:grpSpPr>
        <p:sp>
          <p:nvSpPr>
            <p:cNvPr id="26" name="Rectangle 26"/>
            <p:cNvSpPr/>
            <p:nvPr/>
          </p:nvSpPr>
          <p:spPr>
            <a:xfrm>
              <a:off x="552450" y="3181350"/>
              <a:ext cx="3486150" cy="2362200"/>
            </a:xfrm>
            <a:prstGeom prst="rect">
              <a:avLst/>
            </a:prstGeom>
            <a:solidFill>
              <a:srgbClr val="EAF4F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267200" y="3181350"/>
              <a:ext cx="3486150" cy="2362200"/>
            </a:xfrm>
            <a:prstGeom prst="rect">
              <a:avLst/>
            </a:prstGeom>
            <a:solidFill>
              <a:srgbClr val="EFF8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981950" y="3181350"/>
              <a:ext cx="3657600" cy="23622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52450" y="3181350"/>
              <a:ext cx="34861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267200" y="3181350"/>
              <a:ext cx="348615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981950" y="3181350"/>
              <a:ext cx="36576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2668" y="3460432"/>
              <a:ext cx="13811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上下文压缩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4954" y="38709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写入：窗口超限前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4954" y="41757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保留：最近两轮 + 未完成计划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4954" y="44805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召回：当前会话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5335" y="4945856"/>
              <a:ext cx="2675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Plan / TaskGraph / Artifact 不丢失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87418" y="3460432"/>
              <a:ext cx="16294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长期 Memory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89704" y="3870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写入：固定办公标签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89704" y="4175760"/>
              <a:ext cx="2346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记录：来源 / 范围 / 冲突 / 衰减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89704" y="4480560"/>
              <a:ext cx="16540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召回：只注入主 Agent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90085" y="4945856"/>
              <a:ext cx="2605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用户 / 项目隔离，不直达远端 Agent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02168" y="3460432"/>
              <a:ext cx="22003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 Step / Agent Skill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04454" y="3870960"/>
              <a:ext cx="24530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写入：LLM 反思 + 两次独立成功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04454" y="4175760"/>
              <a:ext cx="2732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门禁：Agent / Tool / Schema / 范围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04454" y="4480560"/>
              <a:ext cx="2068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召回：只增强对应 Plan 步骤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04835" y="4945856"/>
              <a:ext cx="2868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不跳过 Planner；高风险副作用单独拦截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4000500" y="4210050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rgbClr val="D95C5C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4048125" y="425767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0"/>
                  </a:moveTo>
                  <a:lnTo>
                    <a:pt x="209550" y="209550"/>
                  </a:lnTo>
                </a:path>
              </a:pathLst>
            </a:custGeom>
            <a:noFill/>
            <a:ln w="28575">
              <a:solidFill>
                <a:srgbClr val="D95C5C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715250" y="4210050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rgbClr val="D95C5C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762875" y="425767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0"/>
                  </a:moveTo>
                  <a:lnTo>
                    <a:pt x="209550" y="209550"/>
                  </a:lnTo>
                </a:path>
              </a:pathLst>
            </a:custGeom>
            <a:noFill/>
            <a:ln w="28575">
              <a:solidFill>
                <a:srgbClr val="D95C5C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545592" y="5893118"/>
            <a:ext cx="6808485" cy="264033"/>
            <a:chOff x="545592" y="5893118"/>
            <a:chExt cx="6808485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545592" y="5893118"/>
              <a:ext cx="68084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不宣称单项记忆算法 SOTA；价值在生命周期、范围与复用门禁的系统组合。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4" name="TextBox 54"/>
            <p:cNvSpPr txBox="1"/>
            <p:nvPr/>
          </p:nvSpPr>
          <p:spPr>
            <a:xfrm>
              <a:off x="547116" y="6335078"/>
              <a:ext cx="48578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来源：OpenAI Sessions · LangGraph Memory · Mem0 · Voyager 官方资料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41960"/>
            <a:ext cx="7480456" cy="1101852"/>
            <a:chOff x="539496" y="441960"/>
            <a:chExt cx="7480456" cy="110185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41960"/>
              <a:ext cx="2856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THREE-CHANNEL EVIDENCE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696278"/>
              <a:ext cx="74804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三通道均可复核；Skill 的 5 个失败样本定位到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07442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数据范围规范化缺陷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45211" y="1789271"/>
            <a:ext cx="4394543" cy="3471863"/>
            <a:chOff x="545211" y="1789271"/>
            <a:chExt cx="4394543" cy="3471863"/>
          </a:xfrm>
        </p:grpSpPr>
        <p:sp>
          <p:nvSpPr>
            <p:cNvPr id="6" name="TextBox 6"/>
            <p:cNvSpPr txBox="1"/>
            <p:nvPr/>
          </p:nvSpPr>
          <p:spPr>
            <a:xfrm>
              <a:off x="545211" y="178927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上下文压缩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7116" y="2096452"/>
              <a:ext cx="16150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同档位内按 token 数对比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847869" y="2265045"/>
              <a:ext cx="2838336" cy="2326005"/>
              <a:chOff x="1847869" y="2265045"/>
              <a:chExt cx="2838336" cy="2326005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885950" y="2419350"/>
                <a:ext cx="262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9525">
                    <a:moveTo>
                      <a:pt x="0" y="0"/>
                    </a:moveTo>
                    <a:lnTo>
                      <a:pt x="26289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885950" y="4514850"/>
                <a:ext cx="262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9525">
                    <a:moveTo>
                      <a:pt x="0" y="0"/>
                    </a:moveTo>
                    <a:lnTo>
                      <a:pt x="26289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885950" y="2343150"/>
                <a:ext cx="9525" cy="2247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47900">
                    <a:moveTo>
                      <a:pt x="0" y="0"/>
                    </a:moveTo>
                    <a:lnTo>
                      <a:pt x="0" y="22479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3200400" y="2343150"/>
                <a:ext cx="9525" cy="2247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47900">
                    <a:moveTo>
                      <a:pt x="0" y="0"/>
                    </a:moveTo>
                    <a:lnTo>
                      <a:pt x="0" y="224790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4514850" y="2343150"/>
                <a:ext cx="9525" cy="2247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47900">
                    <a:moveTo>
                      <a:pt x="0" y="0"/>
                    </a:moveTo>
                    <a:lnTo>
                      <a:pt x="0" y="22479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847869" y="2265045"/>
                <a:ext cx="761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062364" y="2265045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6000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43495" y="2265045"/>
                <a:ext cx="3427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12000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885950" y="2628900"/>
                <a:ext cx="969645" cy="171450"/>
              </a:xfrm>
              <a:prstGeom prst="rect">
                <a:avLst/>
              </a:prstGeom>
              <a:solidFill>
                <a:srgbClr val="A9B7C5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885950" y="2857500"/>
                <a:ext cx="758000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1885950" y="3295650"/>
                <a:ext cx="1520190" cy="171450"/>
              </a:xfrm>
              <a:prstGeom prst="rect">
                <a:avLst/>
              </a:prstGeom>
              <a:solidFill>
                <a:srgbClr val="A9B7C5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885950" y="3524250"/>
                <a:ext cx="1371886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885950" y="3962400"/>
                <a:ext cx="2608136" cy="171450"/>
              </a:xfrm>
              <a:prstGeom prst="rect">
                <a:avLst/>
              </a:prstGeom>
              <a:solidFill>
                <a:srgbClr val="A9B7C5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885950" y="4191000"/>
                <a:ext cx="1344454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45592" y="2749868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5592" y="341661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5592" y="40833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32K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85897" y="267604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4426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57297" y="290464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3460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9297" y="334279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6939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66897" y="357139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6262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67047" y="4009549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11905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47847" y="423814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6137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6735" y="4793456"/>
              <a:ext cx="2653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压缩后：步骤 / Artifact / 事实均 9/9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6735" y="5041106"/>
              <a:ext cx="253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最近两轮与事实 4/4 · 禁止副作用 0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124450" y="1695450"/>
            <a:ext cx="6515100" cy="3695700"/>
            <a:chOff x="5124450" y="1695450"/>
            <a:chExt cx="6515100" cy="3695700"/>
          </a:xfrm>
        </p:grpSpPr>
        <p:grpSp>
          <p:nvGrpSpPr>
            <p:cNvPr id="41" name="Group 41"/>
            <p:cNvGrpSpPr/>
            <p:nvPr/>
          </p:nvGrpSpPr>
          <p:grpSpPr>
            <a:xfrm>
              <a:off x="5124450" y="1695450"/>
              <a:ext cx="6515100" cy="3695700"/>
              <a:chOff x="5124450" y="1695450"/>
              <a:chExt cx="6515100" cy="36957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5124450" y="1695450"/>
                <a:ext cx="6515100" cy="3695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5810250" y="2362200"/>
                <a:ext cx="1752600" cy="1752600"/>
              </a:xfrm>
              <a:prstGeom prst="ellipse">
                <a:avLst/>
              </a:prstGeom>
              <a:noFill/>
              <a:ln w="247650">
                <a:solidFill>
                  <a:schemeClr val="accent5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5810250" y="2362200"/>
                <a:ext cx="1752600" cy="1752600"/>
              </a:xfrm>
              <a:prstGeom prst="ellipse">
                <a:avLst/>
              </a:prstGeom>
              <a:noFill/>
              <a:ln w="247650">
                <a:solidFill>
                  <a:schemeClr val="accent6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8267700" y="2781300"/>
                <a:ext cx="2857500" cy="43815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8267700" y="2781300"/>
                <a:ext cx="2460593" cy="4381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10728293" y="2781300"/>
                <a:ext cx="396907" cy="4381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422011" y="1884521"/>
              <a:ext cx="764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69851" y="2867978"/>
              <a:ext cx="12333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64 / 64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34278" y="33185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确定性状态机用例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59531" y="3612356"/>
              <a:ext cx="1254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TP44 · FP0 · FN0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23916" y="4515802"/>
              <a:ext cx="28871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来源 40/40 · 重复 4/4 · 冲突 4/4 · 隔离 8/8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23916" y="4820602"/>
              <a:ext cx="2119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不等同于在线 LLM 提取准确率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60461" y="1884521"/>
              <a:ext cx="4204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54746" y="2239328"/>
              <a:ext cx="12333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31 / 36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56854" y="2947035"/>
              <a:ext cx="5889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 31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79026" y="29632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61604" y="3470910"/>
              <a:ext cx="27939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个失败：data scope 规范化不一致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61985" y="3783806"/>
              <a:ext cx="295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计划侧已规范化；Skill 卡仍保留点号原格式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61985" y="4164806"/>
              <a:ext cx="2109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邮件高风险复用 1/1 正确阻断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61985" y="4450556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其余门禁维度均 6/6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52450" y="5619750"/>
            <a:ext cx="11087100" cy="552450"/>
            <a:chOff x="552450" y="5619750"/>
            <a:chExt cx="11087100" cy="552450"/>
          </a:xfrm>
        </p:grpSpPr>
        <p:sp>
          <p:nvSpPr>
            <p:cNvPr id="57" name="Rectangle 57"/>
            <p:cNvSpPr/>
            <p:nvPr/>
          </p:nvSpPr>
          <p:spPr>
            <a:xfrm>
              <a:off x="552450" y="5619750"/>
              <a:ext cx="1108710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3044" y="57521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5573" y="5815489"/>
              <a:ext cx="4898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条本地端到端完整链路：验证模块连接，不包装成线上成功率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61" name="TextBox 61"/>
            <p:cNvSpPr txBox="1"/>
            <p:nvPr/>
          </p:nvSpPr>
          <p:spPr>
            <a:xfrm>
              <a:off x="547116" y="6335078"/>
              <a:ext cx="50780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来源：FINAL_EVALUATION_REPORT.md · Context / Memory / Skill 专项评测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269927" cy="3422238"/>
            <a:chOff x="590550" y="1230630"/>
            <a:chExt cx="6269927" cy="3422238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934652"/>
              <a:ext cx="232798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权限治理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7037" y="3871436"/>
              <a:ext cx="618344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S-ABAC｜四道 PEP｜三态审批｜Artifact Guard｜Receipt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799" y="4344829"/>
              <a:ext cx="537603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权限必须由执行系统强制，而不是要求模型自觉遵守。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96200" y="1565910"/>
            <a:ext cx="3562350" cy="3406140"/>
            <a:chOff x="7696200" y="1565910"/>
            <a:chExt cx="3562350" cy="3406140"/>
          </a:xfrm>
        </p:grpSpPr>
        <p:sp>
          <p:nvSpPr>
            <p:cNvPr id="8" name="Line 8"/>
            <p:cNvSpPr/>
            <p:nvPr/>
          </p:nvSpPr>
          <p:spPr>
            <a:xfrm>
              <a:off x="7696200" y="3200400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95250" cap="rnd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7724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6868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96012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5156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322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466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派发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610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754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667750" y="1943100"/>
              <a:ext cx="2514600" cy="2514600"/>
            </a:xfrm>
            <a:prstGeom prst="ellipse">
              <a:avLst/>
            </a:prstGeom>
            <a:noFill/>
            <a:ln w="1333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88623" y="1565910"/>
              <a:ext cx="1472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REVIEW_REQUIRED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010650" y="352425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38100">
              <a:solidFill>
                <a:srgbClr val="D95C5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229600" y="4476750"/>
              <a:ext cx="1562100" cy="495300"/>
            </a:xfrm>
            <a:prstGeom prst="rect">
              <a:avLst/>
            </a:prstGeom>
            <a:solidFill>
              <a:srgbClr val="F8EEE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54558" y="4653439"/>
              <a:ext cx="11121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D95C5C"/>
                  </a:solidFill>
                  <a:latin typeface="Consolas"/>
                  <a:ea typeface="Consolas"/>
                  <a:cs typeface="Consolas"/>
                </a:rPr>
                <a:t>DENY · STOP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6275" y="5581650"/>
            <a:ext cx="6396807" cy="526256"/>
            <a:chOff x="676275" y="5581650"/>
            <a:chExt cx="6396807" cy="526256"/>
          </a:xfrm>
        </p:grpSpPr>
        <p:sp>
          <p:nvSpPr>
            <p:cNvPr id="23" name="Line 23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275" y="5741194"/>
              <a:ext cx="639680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一次通过不会沿链路永久继承；每个执行点重新鉴权。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6" name="Ellipse 26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6231189" cy="1114997"/>
            <a:chOff x="539496" y="461010"/>
            <a:chExt cx="6231189" cy="1114997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0320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AUTHORIZATION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15328"/>
              <a:ext cx="62311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S-ABAC 把权限从 Prompt 约束升级为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496" y="1077278"/>
              <a:ext cx="25490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执行系统硬边界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47116" y="1581150"/>
            <a:ext cx="11092434" cy="1577911"/>
            <a:chOff x="547116" y="1581150"/>
            <a:chExt cx="11092434" cy="1577911"/>
          </a:xfrm>
        </p:grpSpPr>
        <p:sp>
          <p:nvSpPr>
            <p:cNvPr id="6" name="Rectangle 6"/>
            <p:cNvSpPr/>
            <p:nvPr/>
          </p:nvSpPr>
          <p:spPr>
            <a:xfrm>
              <a:off x="55245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240030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24815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94385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791700" y="1581150"/>
              <a:ext cx="1847850" cy="15621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5711" y="1770221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ACL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7235" y="21455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对象级许可清晰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7616" y="2458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规模扩大后难维护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83561" y="1770221"/>
              <a:ext cx="481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RBAC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85085" y="214550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岗位 / 角色稳定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85466" y="2458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任务目的表达不足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31411" y="1770221"/>
              <a:ext cx="13004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ABAC / ReBAC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32935" y="214550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属性 / 关系细粒度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33316" y="2458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需业务语义建模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79261" y="1770221"/>
              <a:ext cx="12012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OPA / Cedar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0785" y="2145506"/>
              <a:ext cx="1461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外置 PDP / 策略语言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81166" y="2458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生产迁移候选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27492" y="1778318"/>
              <a:ext cx="166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OpenAI Guardrails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28635" y="214550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 / 输出 / 工具校验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29016" y="2458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授权关系仍由应用实现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74961" y="1770221"/>
              <a:ext cx="11309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76485" y="2145506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任务场景参与授权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76866" y="2458402"/>
              <a:ext cx="1392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四 PEP + 三态 + 审计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7116" y="2953702"/>
              <a:ext cx="51276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结论：角色只是 Subject 的一个属性，不能代表本次任务的完整授权上下文。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45973" y="3577114"/>
            <a:ext cx="11093577" cy="2099786"/>
            <a:chOff x="545973" y="3577114"/>
            <a:chExt cx="11093577" cy="2099786"/>
          </a:xfrm>
        </p:grpSpPr>
        <p:sp>
          <p:nvSpPr>
            <p:cNvPr id="32" name="TextBox 32"/>
            <p:cNvSpPr txBox="1"/>
            <p:nvPr/>
          </p:nvSpPr>
          <p:spPr>
            <a:xfrm>
              <a:off x="545973" y="3577114"/>
              <a:ext cx="404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S-ABAC = Subject × Object × Scenario × Action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2450" y="3943350"/>
              <a:ext cx="2152650" cy="76200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2450" y="4895850"/>
              <a:ext cx="2152650" cy="76200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952750" y="3943350"/>
              <a:ext cx="2152650" cy="762000"/>
            </a:xfrm>
            <a:prstGeom prst="rect">
              <a:avLst/>
            </a:prstGeom>
            <a:solidFill>
              <a:srgbClr val="EFF8FB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952750" y="4895850"/>
              <a:ext cx="2152650" cy="7620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5142" y="410241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Subject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666" y="4401502"/>
              <a:ext cx="2204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 / Agent / 部门 / 信任 / 委托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142" y="5054918"/>
              <a:ext cx="639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Object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6666" y="5354002"/>
              <a:ext cx="21949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/ Tool / Artifact / 敏感度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55442" y="4102418"/>
              <a:ext cx="811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Scenario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56966" y="4401502"/>
              <a:ext cx="1911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业务目的 / 风险 / 审批 / 环境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55442" y="5054918"/>
              <a:ext cx="601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56966" y="5354002"/>
              <a:ext cx="26397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 / write / send / delete / approve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2705100" y="4324350"/>
              <a:ext cx="2933700" cy="323850"/>
            </a:xfrm>
            <a:custGeom>
              <a:avLst/>
              <a:gdLst/>
              <a:ahLst/>
              <a:cxnLst/>
              <a:rect l="l" t="t" r="r" b="b"/>
              <a:pathLst>
                <a:path w="2933700" h="323850">
                  <a:moveTo>
                    <a:pt x="0" y="0"/>
                  </a:moveTo>
                  <a:lnTo>
                    <a:pt x="2933700" y="3238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2705100" y="4953000"/>
              <a:ext cx="2933700" cy="323850"/>
            </a:xfrm>
            <a:custGeom>
              <a:avLst/>
              <a:gdLst/>
              <a:ahLst/>
              <a:cxnLst/>
              <a:rect l="l" t="t" r="r" b="b"/>
              <a:pathLst>
                <a:path w="2933700" h="323850">
                  <a:moveTo>
                    <a:pt x="0" y="323850"/>
                  </a:moveTo>
                  <a:lnTo>
                    <a:pt x="29337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5105400" y="4324350"/>
              <a:ext cx="533400" cy="323850"/>
            </a:xfrm>
            <a:custGeom>
              <a:avLst/>
              <a:gdLst/>
              <a:ahLst/>
              <a:cxnLst/>
              <a:rect l="l" t="t" r="r" b="b"/>
              <a:pathLst>
                <a:path w="533400" h="323850">
                  <a:moveTo>
                    <a:pt x="0" y="0"/>
                  </a:moveTo>
                  <a:lnTo>
                    <a:pt x="533400" y="323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5105400" y="4953000"/>
              <a:ext cx="533400" cy="323850"/>
            </a:xfrm>
            <a:custGeom>
              <a:avLst/>
              <a:gdLst/>
              <a:ahLst/>
              <a:cxnLst/>
              <a:rect l="l" t="t" r="r" b="b"/>
              <a:pathLst>
                <a:path w="533400" h="323850">
                  <a:moveTo>
                    <a:pt x="0" y="32385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638800" y="4229100"/>
              <a:ext cx="2095500" cy="1104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52902" y="4524375"/>
              <a:ext cx="1267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PolicyEngine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97032" y="4869656"/>
              <a:ext cx="1979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策略匹配 · 冲突消解 · trace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7734300" y="47815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191500" y="3943350"/>
              <a:ext cx="3448050" cy="51435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191500" y="4552950"/>
              <a:ext cx="3448050" cy="514350"/>
            </a:xfrm>
            <a:prstGeom prst="rect">
              <a:avLst/>
            </a:prstGeom>
            <a:solidFill>
              <a:srgbClr val="F8EEEE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191500" y="5162550"/>
              <a:ext cx="3448050" cy="5143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13242" y="4130992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ALLOW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19285" y="41552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策略直接允许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13242" y="4740592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95C5C"/>
                  </a:solidFill>
                  <a:latin typeface="Consolas"/>
                  <a:ea typeface="Consolas"/>
                  <a:cs typeface="Consolas"/>
                </a:rPr>
                <a:t>DENY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19285" y="47648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不可由审批提升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13623" y="5358289"/>
              <a:ext cx="1570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REVIEW_REQUIRED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81285" y="53744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仅此态可人工放行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63" name="TextBox 63"/>
            <p:cNvSpPr txBox="1"/>
            <p:nvPr/>
          </p:nvSpPr>
          <p:spPr>
            <a:xfrm>
              <a:off x="547116" y="6335078"/>
              <a:ext cx="4131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来源：NIST ABAC · OPA · Cedar · OpenAI Guardrails 官方文档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6595529" cy="1114997"/>
            <a:chOff x="539496" y="461010"/>
            <a:chExt cx="6595529" cy="1114997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067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FOUR ENFORCEMENT POINTS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15328"/>
              <a:ext cx="65955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四道 PEP 在路由、派发、工具、结果处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496" y="1077278"/>
              <a:ext cx="14676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逐次阻断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45973" y="1786414"/>
            <a:ext cx="3854577" cy="4138136"/>
            <a:chOff x="545973" y="1786414"/>
            <a:chExt cx="3854577" cy="4138136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786414"/>
              <a:ext cx="27268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每次访问重新鉴权，不沿链路继承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90600" y="234315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04850" y="222885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04850" y="31242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04850" y="401955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04850" y="49149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1212" y="24517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1212" y="33470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1212" y="42424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1212" y="51377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97711" y="224647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路由前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9616" y="2534602"/>
              <a:ext cx="14902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无权 Agent 不进入候选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97711" y="31418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派发前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99616" y="3429952"/>
              <a:ext cx="1897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Agent / 动作 / 数据域 / 风险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97711" y="403717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工具前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99616" y="4325302"/>
              <a:ext cx="17496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Tool / Grant / 参数 / 审批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97711" y="49325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99616" y="5220652"/>
              <a:ext cx="2249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Artifact owner / scope / lineage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52450" y="5619750"/>
              <a:ext cx="3848100" cy="3048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0466" y="5715952"/>
              <a:ext cx="3518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未知资源 / Receipt 损坏 / 持久化失败 → Fail Closed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705350" y="1676400"/>
            <a:ext cx="6934200" cy="685800"/>
            <a:chOff x="4705350" y="1676400"/>
            <a:chExt cx="6934200" cy="685800"/>
          </a:xfrm>
        </p:grpSpPr>
        <p:sp>
          <p:nvSpPr>
            <p:cNvPr id="27" name="Rectangle 27"/>
            <p:cNvSpPr/>
            <p:nvPr/>
          </p:nvSpPr>
          <p:spPr>
            <a:xfrm>
              <a:off x="4705350" y="1676400"/>
              <a:ext cx="215265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096125" y="1676400"/>
              <a:ext cx="215265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486900" y="1676400"/>
              <a:ext cx="215265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903470" y="18526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46954" y="1965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用户画像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94245" y="18526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52029" y="1965960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属性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85020" y="18526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42804" y="1965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资源属性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705350" y="2571750"/>
            <a:ext cx="6934200" cy="3352800"/>
            <a:chOff x="4705350" y="2571750"/>
            <a:chExt cx="6934200" cy="3352800"/>
          </a:xfrm>
        </p:grpSpPr>
        <p:sp>
          <p:nvSpPr>
            <p:cNvPr id="37" name="Rectangle 37"/>
            <p:cNvSpPr/>
            <p:nvPr/>
          </p:nvSpPr>
          <p:spPr>
            <a:xfrm>
              <a:off x="4705350" y="2571750"/>
              <a:ext cx="6934200" cy="33528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62232" y="2724150"/>
              <a:ext cx="6620435" cy="320040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4857750" y="2724150"/>
              <a:ext cx="2305050" cy="323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956991" y="2821781"/>
              <a:ext cx="21065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S-ABAC Security Dashboard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699635" y="6012656"/>
            <a:ext cx="5425739" cy="220028"/>
            <a:chOff x="4699635" y="6012656"/>
            <a:chExt cx="5425739" cy="220028"/>
          </a:xfrm>
        </p:grpSpPr>
        <p:sp>
          <p:nvSpPr>
            <p:cNvPr id="42" name="TextBox 42"/>
            <p:cNvSpPr txBox="1"/>
            <p:nvPr/>
          </p:nvSpPr>
          <p:spPr>
            <a:xfrm>
              <a:off x="4699635" y="6012656"/>
              <a:ext cx="54257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条策略 · 一次性审批绑定 task / resource / action / scenario / params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4" name="TextBox 44"/>
            <p:cNvSpPr txBox="1"/>
            <p:nvPr/>
          </p:nvSpPr>
          <p:spPr>
            <a:xfrm>
              <a:off x="547116" y="6335078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来源：权限治理原型与真实管理台截图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41960"/>
            <a:ext cx="6910408" cy="1049274"/>
            <a:chOff x="539496" y="441960"/>
            <a:chExt cx="6910408" cy="1049274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41960"/>
              <a:ext cx="2807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EVIDENCE → DEMO → BOUNDARY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696278"/>
              <a:ext cx="69104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证据分层，不用单一“通过率”掩盖真实边界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3306" y="1139190"/>
              <a:ext cx="44581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机制完整 · 可演示 · 可复核 · 边界诚实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5973" y="1786414"/>
            <a:ext cx="5950077" cy="3185636"/>
            <a:chOff x="545973" y="1786414"/>
            <a:chExt cx="5950077" cy="3185636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786414"/>
              <a:ext cx="1822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三层证据回答不同问题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3676650" y="2209800"/>
              <a:ext cx="2819400" cy="2457450"/>
              <a:chOff x="3676650" y="2209800"/>
              <a:chExt cx="2819400" cy="2457450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3676650" y="22098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3676650" y="32385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3676650" y="42672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3676650" y="2438400"/>
                <a:ext cx="2476500" cy="1714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3676650" y="2705100"/>
                <a:ext cx="2476500" cy="1714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3676650" y="3467100"/>
                <a:ext cx="2476500" cy="1714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676650" y="3733800"/>
                <a:ext cx="2466689" cy="1714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3676650" y="4495800"/>
                <a:ext cx="2476500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6" name="Rectangle 16"/>
            <p:cNvSpPr/>
            <p:nvPr/>
          </p:nvSpPr>
          <p:spPr>
            <a:xfrm>
              <a:off x="552450" y="2209800"/>
              <a:ext cx="2914650" cy="857250"/>
            </a:xfrm>
            <a:prstGeom prst="rect">
              <a:avLst/>
            </a:prstGeom>
            <a:solidFill>
              <a:srgbClr val="EAF4F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2450" y="3238500"/>
              <a:ext cx="2914650" cy="857250"/>
            </a:xfrm>
            <a:prstGeom prst="rect">
              <a:avLst/>
            </a:prstGeom>
            <a:solidFill>
              <a:srgbClr val="EFF8F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52450" y="4267200"/>
              <a:ext cx="2914650" cy="7048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3811" y="2379821"/>
              <a:ext cx="14496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 / 合同测试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5335" y="2697956"/>
              <a:ext cx="26798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 Agent 113/113 · 权限核心 105/105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811" y="34085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专项评测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335" y="3726656"/>
              <a:ext cx="2974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 / 工具 / 恢复 / Memory / Skill / 权限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811" y="44372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端到端验证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5335" y="4736306"/>
              <a:ext cx="2190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17 条本地完整链路 + 现场 Demo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55465" y="2469356"/>
              <a:ext cx="75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API 12/12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26209" y="2736056"/>
              <a:ext cx="985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 105/105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49956" y="349805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专项口径完整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26209" y="3764756"/>
              <a:ext cx="985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回归 252/253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05366" y="4526756"/>
              <a:ext cx="9058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17 / 17 链路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219950" y="1676400"/>
            <a:ext cx="4419600" cy="3295650"/>
            <a:chOff x="7219950" y="1676400"/>
            <a:chExt cx="4419600" cy="3295650"/>
          </a:xfrm>
        </p:grpSpPr>
        <p:sp>
          <p:nvSpPr>
            <p:cNvPr id="31" name="Rectangle 31"/>
            <p:cNvSpPr/>
            <p:nvPr/>
          </p:nvSpPr>
          <p:spPr>
            <a:xfrm>
              <a:off x="7219950" y="1676400"/>
              <a:ext cx="4419600" cy="3295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41311" y="1846421"/>
              <a:ext cx="16262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MIN LIVE DEMO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42454" y="2232660"/>
              <a:ext cx="1555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“查询员工张三工资”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658100" y="2667000"/>
              <a:ext cx="9525" cy="1885950"/>
            </a:xfrm>
            <a:custGeom>
              <a:avLst/>
              <a:gdLst/>
              <a:ahLst/>
              <a:cxnLst/>
              <a:rect l="l" t="t" r="r" b="b"/>
              <a:pathLst>
                <a:path w="9525" h="1885950">
                  <a:moveTo>
                    <a:pt x="0" y="0"/>
                  </a:moveTo>
                  <a:lnTo>
                    <a:pt x="0" y="188595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505700" y="25717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505700" y="30289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505700" y="34861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505700" y="39433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7505700" y="44005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13954" y="2651760"/>
              <a:ext cx="19304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TaskProfile + 候选 Agent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13954" y="3108960"/>
              <a:ext cx="968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S-ABAC 预检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13954" y="3566160"/>
              <a:ext cx="1472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REVIEW_REQUIRED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13954" y="40233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一次性审批 → 恢复执行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13954" y="4480560"/>
              <a:ext cx="2136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Receipt / Artifact / 时间线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2450" y="5257800"/>
            <a:ext cx="11087100" cy="917734"/>
            <a:chOff x="552450" y="5257800"/>
            <a:chExt cx="11087100" cy="917734"/>
          </a:xfrm>
        </p:grpSpPr>
        <p:sp>
          <p:nvSpPr>
            <p:cNvPr id="46" name="Rectangle 46"/>
            <p:cNvSpPr/>
            <p:nvPr/>
          </p:nvSpPr>
          <p:spPr>
            <a:xfrm>
              <a:off x="552450" y="5257800"/>
              <a:ext cx="11087100" cy="9144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52450" y="5257800"/>
              <a:ext cx="762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4573" y="54059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真实边界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5335" y="5707856"/>
              <a:ext cx="6471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Resolver 仍以 audit 为主 · Memory 64/64 是确定性状态机 · Skill 31/36 保留规范化缺陷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5335" y="5955506"/>
              <a:ext cx="7953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当前不是生产 IAM、密钥管理、加密或公网部署安全认证；下一步是 enforce / online eval / production governance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2" name="TextBox 52"/>
            <p:cNvSpPr txBox="1"/>
            <p:nvPr/>
          </p:nvSpPr>
          <p:spPr>
            <a:xfrm>
              <a:off x="547116" y="6335078"/>
              <a:ext cx="3318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专题合并回归唯一失败：UI 静态资源缓存版本断言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210" y="480060"/>
            <a:ext cx="9783699" cy="868680"/>
            <a:chOff x="537210" y="480060"/>
            <a:chExt cx="9783699" cy="868680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80060"/>
              <a:ext cx="1591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TEAM OWNERSHIP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210" y="762000"/>
              <a:ext cx="978369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人员分工：四个模块各有主责，接口与评测共同收敛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52450" y="1581150"/>
            <a:ext cx="11087100" cy="3981450"/>
            <a:chOff x="552450" y="1581150"/>
            <a:chExt cx="11087100" cy="3981450"/>
          </a:xfrm>
        </p:grpSpPr>
        <p:sp>
          <p:nvSpPr>
            <p:cNvPr id="5" name="Rectangle 5"/>
            <p:cNvSpPr/>
            <p:nvPr/>
          </p:nvSpPr>
          <p:spPr>
            <a:xfrm>
              <a:off x="552450" y="1581150"/>
              <a:ext cx="2628900" cy="3981450"/>
            </a:xfrm>
            <a:prstGeom prst="rect">
              <a:avLst/>
            </a:prstGeom>
            <a:solidFill>
              <a:srgbClr val="EAF4FB"/>
            </a:solidFill>
            <a:ln w="38100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3371850" y="1581150"/>
              <a:ext cx="2628900" cy="3981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191250" y="1581150"/>
              <a:ext cx="2628900" cy="3981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010650" y="1581150"/>
              <a:ext cx="2628900" cy="39814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52450" y="1581150"/>
              <a:ext cx="262890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371850" y="1581150"/>
              <a:ext cx="2628900" cy="590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191250" y="1581150"/>
              <a:ext cx="262890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010650" y="1581150"/>
              <a:ext cx="2628900" cy="590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2856" y="17678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刘建杰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73780" y="1790700"/>
              <a:ext cx="1773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93180" y="1790700"/>
              <a:ext cx="1773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12580" y="1790700"/>
              <a:ext cx="1773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142" y="2387918"/>
              <a:ext cx="1789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 + 权限治理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285" y="2774156"/>
              <a:ext cx="22919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TaskProfile / RoutingDecision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285" y="3059906"/>
              <a:ext cx="1470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S-ABAC / 四道 PEP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6285" y="3345656"/>
              <a:ext cx="1361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系统集成 / 治理台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62000" y="37338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B9CAD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628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6666" y="4211002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意图指标 · 权限测试 · 截图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28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666" y="49158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路由、权限模型、生产边界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74542" y="2387918"/>
              <a:ext cx="1239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 编排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75685" y="2774156"/>
              <a:ext cx="1776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TaskGraph / Scheduler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75685" y="3059906"/>
              <a:ext cx="11063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Resolver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75685" y="3345656"/>
              <a:ext cx="12595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Pause / Resume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581400" y="37338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B9CAD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7568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76066" y="421100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工具选择 · 恢复对照实验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7568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76066" y="49158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工具收敛、恢复与副作用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93942" y="2387918"/>
              <a:ext cx="1334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 + Skill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95085" y="2774156"/>
              <a:ext cx="8862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上下文压缩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95085" y="3059906"/>
              <a:ext cx="73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长期记忆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95085" y="3345656"/>
              <a:ext cx="14142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/ Agent Skill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400800" y="37338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B9CAD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9508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95466" y="4211002"/>
              <a:ext cx="21241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64 Memory · 36 Skill · 缺陷复盘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9508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95466" y="49158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评测口径、隔离与复用门禁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13342" y="2387918"/>
              <a:ext cx="1597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前端 + 演示 + 材料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14485" y="2774156"/>
              <a:ext cx="15119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前端原型 / 演示场景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14485" y="3059906"/>
              <a:ext cx="8862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自动化回归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14485" y="3345656"/>
              <a:ext cx="1215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PPT / 报告整合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9220200" y="37338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E2C7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1448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14866" y="4211002"/>
              <a:ext cx="2031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现场演示 · 回归报告 · 答辩材料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1448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14866" y="49158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现场操作与测试证据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2450" y="5772150"/>
            <a:ext cx="11087100" cy="419100"/>
            <a:chOff x="552450" y="5772150"/>
            <a:chExt cx="11087100" cy="419100"/>
          </a:xfrm>
        </p:grpSpPr>
        <p:sp>
          <p:nvSpPr>
            <p:cNvPr id="54" name="Rectangle 54"/>
            <p:cNvSpPr/>
            <p:nvPr/>
          </p:nvSpPr>
          <p:spPr>
            <a:xfrm>
              <a:off x="552450" y="5772150"/>
              <a:ext cx="11087100" cy="4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376640" y="5909310"/>
              <a:ext cx="7438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共享职责：统一 Agent / Tool / Artifact 契约 · 统一评测口径 · 集成联调 · 演示演练 · 材料复核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47116" y="6344602"/>
            <a:ext cx="2867725" cy="205359"/>
            <a:chOff x="547116" y="6344602"/>
            <a:chExt cx="2867725" cy="205359"/>
          </a:xfrm>
        </p:grpSpPr>
        <p:sp>
          <p:nvSpPr>
            <p:cNvPr id="57" name="TextBox 57"/>
            <p:cNvSpPr txBox="1"/>
            <p:nvPr/>
          </p:nvSpPr>
          <p:spPr>
            <a:xfrm>
              <a:off x="547116" y="6344602"/>
              <a:ext cx="28677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答辩前请替换 3 处“成员姓名待补充”占位。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59" name="Ellipse 59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uperagent-intern-defense-2026">
  <a:themeElements>
    <a:clrScheme name="superagent-intern-defense-2026">
      <a:dk1>
        <a:srgbClr val="1E2A36"/>
      </a:dk1>
      <a:lt1>
        <a:srgbClr val="FFFFFF"/>
      </a:lt1>
      <a:dk2>
        <a:srgbClr val="1F497D"/>
      </a:dk2>
      <a:lt2>
        <a:srgbClr val="F3F7FB"/>
      </a:lt2>
      <a:accent1>
        <a:srgbClr val="0B5CAD"/>
      </a:accent1>
      <a:accent2>
        <a:srgbClr val="F28C28"/>
      </a:accent2>
      <a:accent3>
        <a:srgbClr val="4CA6C6"/>
      </a:accent3>
      <a:accent4>
        <a:srgbClr val="0B5CAD"/>
      </a:accent4>
      <a:accent5>
        <a:srgbClr val="DCE5EF"/>
      </a:accent5>
      <a:accent6>
        <a:srgbClr val="21A179"/>
      </a:accent6>
      <a:hlink>
        <a:srgbClr val="F28C28"/>
      </a:hlink>
      <a:folHlink>
        <a:srgbClr val="4CA6C6"/>
      </a:folHlink>
    </a:clrScheme>
    <a:fontScheme name="superagent-intern-defense-202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peragent-intern-defense-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peragent-intern-defense-2026">
  <a:themeElements>
    <a:clrScheme name="superagent-intern-defense-2026">
      <a:dk1>
        <a:srgbClr val="1E2A36"/>
      </a:dk1>
      <a:lt1>
        <a:srgbClr val="FFFFFF"/>
      </a:lt1>
      <a:dk2>
        <a:srgbClr val="1F497D"/>
      </a:dk2>
      <a:lt2>
        <a:srgbClr val="F3F7FB"/>
      </a:lt2>
      <a:accent1>
        <a:srgbClr val="0B5CAD"/>
      </a:accent1>
      <a:accent2>
        <a:srgbClr val="F28C28"/>
      </a:accent2>
      <a:accent3>
        <a:srgbClr val="4CA6C6"/>
      </a:accent3>
      <a:accent4>
        <a:srgbClr val="0B5CAD"/>
      </a:accent4>
      <a:accent5>
        <a:srgbClr val="DCE5EF"/>
      </a:accent5>
      <a:accent6>
        <a:srgbClr val="21A179"/>
      </a:accent6>
      <a:hlink>
        <a:srgbClr val="F28C28"/>
      </a:hlink>
      <a:folHlink>
        <a:srgbClr val="4CA6C6"/>
      </a:folHlink>
    </a:clrScheme>
    <a:fontScheme name="superagent-intern-defense-202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peragent-intern-defense-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2026-08-11T05:04:02Z</dcterms:created>
  <dcterms:modified xsi:type="dcterms:W3CDTF">2026-08-11T05:04:02Z</dcterms:modified>
  <cp:category/>
  <cp:contentStatus/>
</cp:coreProperties>
</file>