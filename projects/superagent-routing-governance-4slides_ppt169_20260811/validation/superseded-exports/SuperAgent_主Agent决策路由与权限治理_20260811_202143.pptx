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wdp" ContentType="image/vnd.ms-photo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48" r:id="rId1"/>
    <p:sldMasterId id="2147483657" r:id="rId3"/>
  </p:sldMasterIdLst>
  <p:notesMasterIdLst>
    <p:notesMasterId r:id="rId64"/>
  </p:notesMasterIdLst>
  <p:sldIdLst>
    <p:sldId id="256" r:id="rId68"/>
    <p:sldId id="257" r:id="rId69"/>
    <p:sldId id="258" r:id="rId70"/>
    <p:sldId id="259" r:id="rId7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BAF8"/>
    <a:srgbClr val="015BAB"/>
    <a:srgbClr val="DAB971"/>
    <a:srgbClr val="34A0DD"/>
    <a:srgbClr val="004E95"/>
    <a:srgbClr val="4ABFFF"/>
    <a:srgbClr val="B39A62"/>
    <a:srgbClr val="C2A76A"/>
    <a:srgbClr val="40AFEB"/>
    <a:srgbClr val="DBB7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85"/>
    <p:restoredTop sz="96165"/>
  </p:normalViewPr>
  <p:slideViewPr>
    <p:cSldViewPr snapToGrid="0" snapToObjects="1">
      <p:cViewPr varScale="1">
        <p:scale>
          <a:sx n="69" d="100"/>
          <a:sy n="69" d="100"/>
        </p:scale>
        <p:origin x="88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3" d="100"/>
          <a:sy n="93" d="100"/>
        </p:scale>
        <p:origin x="4168" y="216"/>
      </p:cViewPr>
      <p:guideLst/>
    </p:cSldViewPr>
  </p:notesViewPr>
  <p:gridSpacing cx="72008" cy="72008"/>
</p:viewPr>
</file>

<file path=ppt/_rels/presentation.xml.rels><?xml version='1.0' encoding='utf-8'?>
<Relationships xmlns="http://schemas.openxmlformats.org/package/2006/relationships"><Relationship Id="rId67" Type="http://schemas.openxmlformats.org/officeDocument/2006/relationships/tableStyles" Target="tableStyles.xml" /><Relationship Id="rId66" Type="http://schemas.openxmlformats.org/officeDocument/2006/relationships/viewProps" Target="viewProps.xml" /><Relationship Id="rId65" Type="http://schemas.openxmlformats.org/officeDocument/2006/relationships/presProps" Target="presProps.xml" /><Relationship Id="rId64" Type="http://schemas.openxmlformats.org/officeDocument/2006/relationships/notesMaster" Target="notesMasters/notesMaster1.xml" /><Relationship Id="rId3" Type="http://schemas.openxmlformats.org/officeDocument/2006/relationships/slideMaster" Target="slideMasters/slideMaster2.xml" /><Relationship Id="rId2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8" Type="http://schemas.openxmlformats.org/officeDocument/2006/relationships/slide" Target="slides/slide61.xml" /><Relationship Id="rId69" Type="http://schemas.openxmlformats.org/officeDocument/2006/relationships/slide" Target="slides/slide62.xml" /><Relationship Id="rId70" Type="http://schemas.openxmlformats.org/officeDocument/2006/relationships/slide" Target="slides/slide63.xml" /><Relationship Id="rId71" Type="http://schemas.openxmlformats.org/officeDocument/2006/relationships/slide" Target="slides/slide64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54EAD1-C957-F948-97C8-09C1DDA8017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828CD3-A516-BE4C-82EE-87EB350D78B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1.xml" /></Relationships>
</file>

<file path=ppt/notesSlides/_rels/notesSlide6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2.xml" /></Relationships>
</file>

<file path=ppt/notesSlides/_rels/notesSlide6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3.xml" /></Relationships>
</file>

<file path=ppt/notesSlides/_rels/notesSlide6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4.xml" /></Relationship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调研表明，OpenAI Agents SDK 和 LangGraph 都支持中央调度，AutoGen 更偏向会话式的下一 Agent 选择。SuperAgent 借鉴这些编排思路，但把权限候选、数据范围、Artifact 所有权和副作用安全一并收口到主 Agent。</a:t>
            </a:r>
          </a:p>
          <a:p>
            <a:pPr/>
            <a:endParaRPr lang="en-US" dirty="0"/>
          </a:p>
          <a:p>
            <a:pPr/>
            <a:r>
              <a:rPr lang="en-US" dirty="0"/>
              <a:t>[Sources]</a:t>
            </a:r>
          </a:p>
          <a:p>
            <a:pPr/>
            <a:r>
              <a:rPr lang="en-US" dirty="0"/>
              <a:t>• https://openai.github.io/openai-agents-python/multi_agent/</a:t>
            </a:r>
          </a:p>
          <a:p>
            <a:pPr/>
            <a:r>
              <a:rPr lang="en-US" dirty="0"/>
              <a:t>• https://langchain-ai.github.io/langgraphjs/reference/modules/langgraph-supervisor.html</a:t>
            </a:r>
          </a:p>
          <a:p>
            <a:pPr/>
            <a:r>
              <a:rPr lang="en-US" dirty="0"/>
              <a:t>• https://microsoft.github.io/autogen/dev/user-guide/agentchat-user-guide/selector-group-chat.html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主 Agent 不直接凭一次模型输出选 Agent，而是先把请求变成可校验的 TaskProfile，再以权限与能力硬过滤收缩候选。权限不进入加权总分，因为高匹配度不能抵消越权；最终 RoutingDecision 同时输出分数、排除原因和 trace_id。</a:t>
            </a:r>
          </a:p>
          <a:p>
            <a:pPr/>
            <a:endParaRPr lang="en-US" dirty="0"/>
          </a:p>
          <a:p>
            <a:pPr/>
            <a:r>
              <a:rPr lang="en-US" dirty="0"/>
              <a:t>[Sources]</a:t>
            </a:r>
          </a:p>
          <a:p>
            <a:pPr/>
            <a:r>
              <a:rPr lang="zh-CN" dirty="0"/>
              <a:t>• E:/Program/SuperAgent/docs/答辩重点稿-意图识别-多Agent编排-权限治理.md</a:t>
            </a:r>
          </a:p>
          <a:p>
            <a:pPr/>
            <a:r>
              <a:rPr lang="en-US" dirty="0"/>
              <a:t>• E:/Program/SuperAgent/src/orchestrator/task_profiler.py</a:t>
            </a:r>
          </a:p>
          <a:p>
            <a:pPr/>
            <a:r>
              <a:rPr lang="en-US" dirty="0"/>
              <a:t>• E:/Program/SuperAgent/src/orchestrator/department_router.py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权限治理不是写在 Prompt 里要求模型自律，而是在路由、派发、工具和结果四个位置部署确定性执行闸门。这一设计对应 ABAC 的主体、对象、操作和环境属性，也对应零信任的逐请求最小权限、OPA 的 PDP/PEP 分离与 RFC 8693 的委托语义。</a:t>
            </a:r>
          </a:p>
          <a:p>
            <a:pPr/>
            <a:endParaRPr lang="en-US" dirty="0"/>
          </a:p>
          <a:p>
            <a:pPr/>
            <a:r>
              <a:rPr lang="en-US" dirty="0"/>
              <a:t>[Sources]</a:t>
            </a:r>
          </a:p>
          <a:p>
            <a:pPr/>
            <a:r>
              <a:rPr lang="en-US" dirty="0"/>
              <a:t>• https://csrc.nist.gov/pubs/sp/800/162/upd2/final</a:t>
            </a:r>
          </a:p>
          <a:p>
            <a:pPr/>
            <a:r>
              <a:rPr lang="en-US" dirty="0"/>
              <a:t>• https://csrc.nist.gov/pubs/sp/800/207/final</a:t>
            </a:r>
          </a:p>
          <a:p>
            <a:pPr/>
            <a:r>
              <a:rPr lang="en-US" dirty="0"/>
              <a:t>• https://www.openpolicyagent.org/docs/deploy</a:t>
            </a:r>
          </a:p>
          <a:p>
            <a:pPr/>
            <a:r>
              <a:rPr lang="en-US" dirty="0"/>
              <a:t>• https://www.rfc-editor.org/info/rfc8693/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些数字来自三十三条固定标注样本，指标口径彼此独立：严格整例要求全部标注字段同时正确，因此明显低于单字段准确率。权限部分只表述为核心链路专项回归一百零二项全部通过，不延伸为生产级安全认证。</a:t>
            </a:r>
          </a:p>
          <a:p>
            <a:pPr/>
            <a:endParaRPr lang="en-US" dirty="0"/>
          </a:p>
          <a:p>
            <a:pPr/>
            <a:r>
              <a:rPr lang="en-US" dirty="0"/>
              <a:t>[Sources]</a:t>
            </a:r>
          </a:p>
          <a:p>
            <a:pPr/>
            <a:r>
              <a:rPr lang="zh-CN" dirty="0"/>
              <a:t>• E:/Program/SuperAgent/docs/答辩重点稿-意图识别-多Agent编排-权限治理.md</a:t>
            </a:r>
          </a:p>
          <a:p>
            <a:pPr/>
            <a:r>
              <a:rPr lang="en-US" dirty="0"/>
              <a:t>• E:/Program/SuperAgent/tests/intent_eval_cases.json</a:t>
            </a:r>
          </a:p>
          <a:p>
            <a:pPr/>
            <a:r>
              <a:rPr lang="en-US" dirty="0"/>
              <a:t>• E:/Program/SuperAgent/tests/evaluations/permission_governance_eval.json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>
              <a:sym typeface="+mn-ea"/>
            </a:endParaRPr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82702" y="313898"/>
            <a:ext cx="1804082" cy="331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82702" y="313898"/>
            <a:ext cx="1804082" cy="331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82702" y="313898"/>
            <a:ext cx="1804082" cy="33156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92078" y="6544102"/>
            <a:ext cx="9811497" cy="331561"/>
          </a:xfrm>
          <a:prstGeom prst="rect">
            <a:avLst/>
          </a:prstGeom>
        </p:spPr>
      </p:pic>
      <p:sp>
        <p:nvSpPr>
          <p:cNvPr id="13" name="Rectangle 11"/>
          <p:cNvSpPr>
            <a:spLocks noChangeArrowheads="1"/>
          </p:cNvSpPr>
          <p:nvPr userDrawn="1"/>
        </p:nvSpPr>
        <p:spPr bwMode="auto">
          <a:xfrm>
            <a:off x="4076478" y="6590721"/>
            <a:ext cx="6457390" cy="24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Arial" panose="020B0604020202020204" pitchFamily="34" charset="0"/>
              </a:rPr>
              <a:t>迎难而上</a:t>
            </a:r>
            <a:r>
              <a:rPr lang="zh-CN" altLang="en-US" sz="16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Arial" panose="020B0604020202020204" pitchFamily="34" charset="0"/>
              </a:rPr>
              <a:t> </a:t>
            </a:r>
            <a:r>
              <a:rPr lang="en-US" altLang="zh-CN" sz="16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Arial" panose="020B0604020202020204" pitchFamily="34" charset="0"/>
              </a:rPr>
              <a:t>· </a:t>
            </a:r>
            <a:r>
              <a:rPr lang="zh-CN" altLang="en-US" sz="16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Arial" panose="020B0604020202020204" pitchFamily="34" charset="0"/>
              </a:rPr>
              <a:t>守正创新 </a:t>
            </a:r>
            <a:r>
              <a:rPr lang="en-US" altLang="zh-CN" sz="16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Arial" panose="020B0604020202020204" pitchFamily="34" charset="0"/>
              </a:rPr>
              <a:t>· </a:t>
            </a:r>
            <a:r>
              <a:rPr lang="zh-CN" altLang="en-US" sz="16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Arial" panose="020B0604020202020204" pitchFamily="34" charset="0"/>
              </a:rPr>
              <a:t>追求卓越 </a:t>
            </a:r>
            <a:r>
              <a:rPr lang="en-US" altLang="zh-CN" sz="16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Arial" panose="020B0604020202020204" pitchFamily="34" charset="0"/>
              </a:rPr>
              <a:t>· </a:t>
            </a:r>
            <a:r>
              <a:rPr lang="zh-CN" altLang="en-US" sz="16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Arial" panose="020B0604020202020204" pitchFamily="34" charset="0"/>
              </a:rPr>
              <a:t>共创未来</a:t>
            </a:r>
            <a:endParaRPr lang="zh-CN" altLang="en-US" sz="1600" b="1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82702" y="313898"/>
            <a:ext cx="1804082" cy="331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D573-F594-0B4B-B065-0EF3E2691D4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A68610-F728-A341-B904-19EA90EF76A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D573-F594-0B4B-B065-0EF3E2691D4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A68610-F728-A341-B904-19EA90EF76A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D573-F594-0B4B-B065-0EF3E2691D4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A68610-F728-A341-B904-19EA90EF76A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D573-F594-0B4B-B065-0EF3E2691D4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A68610-F728-A341-B904-19EA90EF76A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D573-F594-0B4B-B065-0EF3E2691D4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A68610-F728-A341-B904-19EA90EF76A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D573-F594-0B4B-B065-0EF3E2691D4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A68610-F728-A341-B904-19EA90EF76A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D573-F594-0B4B-B065-0EF3E2691D4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A68610-F728-A341-B904-19EA90EF76A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en-US" dirty="0"/>
              <a:t>CLICK TO EDITE SUBTITLE</a:t>
            </a:r>
            <a:endParaRPr lang="en-US" dirty="0"/>
          </a:p>
        </p:txBody>
      </p: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77B24F-0A6A-46C5-ABD4-93FE51B44D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78461E-C0B0-41E1-AE19-703483BCA6D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11760472" y="6502840"/>
            <a:ext cx="431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30EB170B-47F7-4744-8BB1-8CD9E8E172D4}" type="slidenum">
              <a:rPr lang="en-US" altLang="zh-CN" sz="14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3" Type="http://schemas.openxmlformats.org/officeDocument/2006/relationships/theme" Target="../theme/theme2.xml"/><Relationship Id="rId22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BD573-F594-0B4B-B065-0EF3E2691D4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68610-F728-A341-B904-19EA90EF76A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61.xml" /></Relationships>
</file>

<file path=ppt/slides/_rels/slide6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62.xml" /></Relationships>
</file>

<file path=ppt/slides/_rels/slide6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63.xml" /></Relationships>
</file>

<file path=ppt/slides/_rels/slide6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64.xml" /></Relationships>
</file>

<file path=ppt/slides/slide6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583501" y="471624"/>
            <a:ext cx="2177776" cy="553998"/>
            <a:chOff x="592429" y="482522"/>
            <a:chExt cx="2177776" cy="553998"/>
          </a:xfrm>
        </p:grpSpPr>
        <p:grpSp>
          <p:nvGrpSpPr>
            <p:cNvPr id="27" name="组合 26"/>
            <p:cNvGrpSpPr/>
            <p:nvPr/>
          </p:nvGrpSpPr>
          <p:grpSpPr>
            <a:xfrm>
              <a:off x="592429" y="584272"/>
              <a:ext cx="433087" cy="360490"/>
              <a:chOff x="2770053" y="2524936"/>
              <a:chExt cx="433087" cy="317447"/>
            </a:xfrm>
            <a:solidFill>
              <a:srgbClr val="2F5EB2"/>
            </a:solidFill>
          </p:grpSpPr>
          <p:sp>
            <p:nvSpPr>
              <p:cNvPr id="29" name="箭头: V 形 1"/>
              <p:cNvSpPr/>
              <p:nvPr/>
            </p:nvSpPr>
            <p:spPr>
              <a:xfrm>
                <a:off x="2770053" y="2525556"/>
                <a:ext cx="104604" cy="316827"/>
              </a:xfrm>
              <a:prstGeom prst="chevron">
                <a:avLst>
                  <a:gd name="adj" fmla="val 72622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</a:endParaRPr>
              </a:p>
            </p:txBody>
          </p:sp>
          <p:sp>
            <p:nvSpPr>
              <p:cNvPr id="30" name="箭头: V 形 3"/>
              <p:cNvSpPr/>
              <p:nvPr/>
            </p:nvSpPr>
            <p:spPr>
              <a:xfrm>
                <a:off x="2929059" y="2524940"/>
                <a:ext cx="104604" cy="316827"/>
              </a:xfrm>
              <a:prstGeom prst="chevron">
                <a:avLst>
                  <a:gd name="adj" fmla="val 72622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</a:endParaRPr>
              </a:p>
            </p:txBody>
          </p:sp>
          <p:sp>
            <p:nvSpPr>
              <p:cNvPr id="31" name="箭头: V 形 4"/>
              <p:cNvSpPr/>
              <p:nvPr/>
            </p:nvSpPr>
            <p:spPr>
              <a:xfrm>
                <a:off x="3098536" y="2524936"/>
                <a:ext cx="104604" cy="316827"/>
              </a:xfrm>
              <a:prstGeom prst="chevron">
                <a:avLst>
                  <a:gd name="adj" fmla="val 72622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</a:endParaRPr>
              </a:p>
            </p:txBody>
          </p:sp>
        </p:grpSp>
        <p:sp>
          <p:nvSpPr>
            <p:cNvPr id="28" name="文本框 7"/>
            <p:cNvSpPr txBox="1"/>
            <p:nvPr/>
          </p:nvSpPr>
          <p:spPr>
            <a:xfrm>
              <a:off x="1046656" y="482522"/>
              <a:ext cx="1723549" cy="553998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30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框架对比</a:t>
              </a:r>
              <a:endParaRPr lang="zh-CN" altLang="en-US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32" name="表格 5"/>
          <p:cNvGraphicFramePr>
            <a:graphicFrameLocks noGrp="1"/>
          </p:cNvGraphicFramePr>
          <p:nvPr/>
        </p:nvGraphicFramePr>
        <p:xfrm>
          <a:off x="912788" y="1800931"/>
          <a:ext cx="10380580" cy="34713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6116"/>
                <a:gridCol w="2076116"/>
                <a:gridCol w="2076116"/>
                <a:gridCol w="2076116"/>
                <a:gridCol w="2076116"/>
              </a:tblGrid>
              <a:tr h="4961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字魂105号-简雅黑" panose="00000500000000000000" pitchFamily="2" charset="-122"/>
                        </a:rPr>
                        <a:t>对比维度</a:t>
                      </a:r>
                      <a:endParaRPr lang="zh-CN" altLang="en-US" sz="1600" b="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字魂105号-简雅黑" panose="000005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0" i="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字魂105号-简雅黑" panose="00000500000000000000" pitchFamily="2" charset="-122"/>
                        </a:rPr>
                        <a:t>OpenAI Agents SDK</a:t>
                      </a:r>
                      <a:endParaRPr lang="zh-CN" altLang="en-US" sz="1600" b="0" i="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字魂105号-简雅黑" panose="000005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0" i="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字魂105号-简雅黑" panose="00000500000000000000" pitchFamily="2" charset="-122"/>
                        </a:rPr>
                        <a:t>LangGraph</a:t>
                      </a:r>
                      <a:endParaRPr lang="zh-CN" altLang="en-US" sz="1600" b="0" i="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字魂105号-简雅黑" panose="000005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0" i="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字魂105号-简雅黑" panose="00000500000000000000" pitchFamily="2" charset="-122"/>
                        </a:rPr>
                        <a:t>AutoGen</a:t>
                      </a:r>
                      <a:endParaRPr lang="zh-CN" altLang="en-US" sz="1600" b="0" i="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字魂105号-简雅黑" panose="000005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0" i="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字魂105号-简雅黑" panose="00000500000000000000" pitchFamily="2" charset="-122"/>
                        </a:rPr>
                        <a:t>SuperAgent</a:t>
                      </a:r>
                      <a:endParaRPr lang="zh-CN" altLang="en-US" sz="1600" b="0" i="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字魂105号-简雅黑" panose="000005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4961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编排定位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Manager / Handoff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图状态机 / Supervisor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Selector GroupChat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主 Agent 受控调度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961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决策方式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LLM + 代码编排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节点与边显式控制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模型选下一发言者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硬过滤 + 可解释评分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9460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权限边界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Guardrail / 审批扩展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HITL / Guardrail 可扩展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Candidate function 约束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S-ABAC + 四道 PEP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961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状态恢复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Session / 耐久引擎集成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Checkpoint / HITL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消息状态 / 终止条件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Checkpoint + 幂等回执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961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审计粒度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Run / Trace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State / Graph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消息 / 选人过程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Task / Agent / Tool / Artifact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961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适用结论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通用 Agent SDK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耐久工作流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多 Agent 协作原型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数字员工治理闭环</a:t>
                      </a:r>
                      <a:endParaRPr lang="zh-CN" altLang="en-US" sz="10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3" name="文本框 32"/>
          <p:cNvSpPr txBox="1"/>
          <p:nvPr/>
        </p:nvSpPr>
        <p:spPr>
          <a:xfrm>
            <a:off x="912788" y="5500580"/>
            <a:ext cx="10380580" cy="41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结论：借鉴中央调度与持久化，但将权限作为候选硬约束，并把 Artifact、审批与副作用安全纳入同一 trace。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>
    <mc:Choice Requires="p14">
      <p:transition p14:dur="10"/>
    </mc:Choice>
    <mc:Fallback>
      <p:transition/>
    </mc:Fallback>
  </mc:AlternateContent>
</p:sld>
</file>

<file path=ppt/slides/slide62.xml><?xml version="1.0" encoding="utf-8"?>
<p:sld xmlns:a="http://schemas.openxmlformats.org/drawingml/2006/main" xmlns:a14="http://schemas.microsoft.com/office/drawing/2010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9"/>
          <p:cNvGrpSpPr/>
          <p:nvPr/>
        </p:nvGrpSpPr>
        <p:grpSpPr>
          <a:xfrm>
            <a:off x="5355936" y="1980483"/>
            <a:ext cx="4525962" cy="4522265"/>
            <a:chOff x="3833019" y="1832999"/>
            <a:chExt cx="4525962" cy="4522265"/>
          </a:xfrm>
        </p:grpSpPr>
        <p:sp>
          <p:nvSpPr>
            <p:cNvPr id="3" name="Freeform 5"/>
            <p:cNvSpPr/>
            <p:nvPr/>
          </p:nvSpPr>
          <p:spPr bwMode="auto">
            <a:xfrm>
              <a:off x="6390582" y="2605815"/>
              <a:ext cx="1639305" cy="949072"/>
            </a:xfrm>
            <a:custGeom>
              <a:avLst/>
              <a:gdLst>
                <a:gd name="T0" fmla="*/ 638 w 1330"/>
                <a:gd name="T1" fmla="*/ 770 h 770"/>
                <a:gd name="T2" fmla="*/ 0 w 1330"/>
                <a:gd name="T3" fmla="*/ 400 h 770"/>
                <a:gd name="T4" fmla="*/ 694 w 1330"/>
                <a:gd name="T5" fmla="*/ 0 h 770"/>
                <a:gd name="T6" fmla="*/ 1330 w 1330"/>
                <a:gd name="T7" fmla="*/ 370 h 770"/>
                <a:gd name="T8" fmla="*/ 638 w 1330"/>
                <a:gd name="T9" fmla="*/ 770 h 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0" h="770">
                  <a:moveTo>
                    <a:pt x="638" y="770"/>
                  </a:moveTo>
                  <a:lnTo>
                    <a:pt x="0" y="400"/>
                  </a:lnTo>
                  <a:lnTo>
                    <a:pt x="694" y="0"/>
                  </a:lnTo>
                  <a:lnTo>
                    <a:pt x="1330" y="370"/>
                  </a:lnTo>
                  <a:lnTo>
                    <a:pt x="638" y="770"/>
                  </a:lnTo>
                  <a:close/>
                </a:path>
              </a:pathLst>
            </a:custGeom>
            <a:solidFill>
              <a:srgbClr val="48BAF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" name="Freeform 6"/>
            <p:cNvSpPr/>
            <p:nvPr/>
          </p:nvSpPr>
          <p:spPr bwMode="auto">
            <a:xfrm>
              <a:off x="6390582" y="3098839"/>
              <a:ext cx="787607" cy="783909"/>
            </a:xfrm>
            <a:custGeom>
              <a:avLst/>
              <a:gdLst>
                <a:gd name="T0" fmla="*/ 639 w 639"/>
                <a:gd name="T1" fmla="*/ 636 h 636"/>
                <a:gd name="T2" fmla="*/ 2 w 639"/>
                <a:gd name="T3" fmla="*/ 266 h 636"/>
                <a:gd name="T4" fmla="*/ 0 w 639"/>
                <a:gd name="T5" fmla="*/ 0 h 636"/>
                <a:gd name="T6" fmla="*/ 638 w 639"/>
                <a:gd name="T7" fmla="*/ 370 h 636"/>
                <a:gd name="T8" fmla="*/ 639 w 639"/>
                <a:gd name="T9" fmla="*/ 636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9" h="636">
                  <a:moveTo>
                    <a:pt x="639" y="636"/>
                  </a:moveTo>
                  <a:lnTo>
                    <a:pt x="2" y="266"/>
                  </a:lnTo>
                  <a:lnTo>
                    <a:pt x="0" y="0"/>
                  </a:lnTo>
                  <a:lnTo>
                    <a:pt x="638" y="370"/>
                  </a:lnTo>
                  <a:lnTo>
                    <a:pt x="639" y="636"/>
                  </a:lnTo>
                  <a:close/>
                </a:path>
              </a:pathLst>
            </a:custGeom>
            <a:solidFill>
              <a:srgbClr val="48BAF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" name="Freeform 7"/>
            <p:cNvSpPr/>
            <p:nvPr/>
          </p:nvSpPr>
          <p:spPr bwMode="auto">
            <a:xfrm>
              <a:off x="5538883" y="3426700"/>
              <a:ext cx="1639305" cy="947839"/>
            </a:xfrm>
            <a:custGeom>
              <a:avLst/>
              <a:gdLst>
                <a:gd name="T0" fmla="*/ 637 w 1330"/>
                <a:gd name="T1" fmla="*/ 769 h 769"/>
                <a:gd name="T2" fmla="*/ 0 w 1330"/>
                <a:gd name="T3" fmla="*/ 400 h 769"/>
                <a:gd name="T4" fmla="*/ 693 w 1330"/>
                <a:gd name="T5" fmla="*/ 0 h 769"/>
                <a:gd name="T6" fmla="*/ 1330 w 1330"/>
                <a:gd name="T7" fmla="*/ 370 h 769"/>
                <a:gd name="T8" fmla="*/ 637 w 1330"/>
                <a:gd name="T9" fmla="*/ 769 h 7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0" h="769">
                  <a:moveTo>
                    <a:pt x="637" y="769"/>
                  </a:moveTo>
                  <a:lnTo>
                    <a:pt x="0" y="400"/>
                  </a:lnTo>
                  <a:lnTo>
                    <a:pt x="693" y="0"/>
                  </a:lnTo>
                  <a:lnTo>
                    <a:pt x="1330" y="370"/>
                  </a:lnTo>
                  <a:lnTo>
                    <a:pt x="637" y="769"/>
                  </a:lnTo>
                  <a:close/>
                </a:path>
              </a:pathLst>
            </a:custGeom>
            <a:solidFill>
              <a:srgbClr val="C9C9C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" name="Freeform 8"/>
            <p:cNvSpPr/>
            <p:nvPr/>
          </p:nvSpPr>
          <p:spPr bwMode="auto">
            <a:xfrm>
              <a:off x="5538883" y="3919724"/>
              <a:ext cx="786374" cy="782676"/>
            </a:xfrm>
            <a:custGeom>
              <a:avLst/>
              <a:gdLst>
                <a:gd name="T0" fmla="*/ 638 w 638"/>
                <a:gd name="T1" fmla="*/ 635 h 635"/>
                <a:gd name="T2" fmla="*/ 0 w 638"/>
                <a:gd name="T3" fmla="*/ 264 h 635"/>
                <a:gd name="T4" fmla="*/ 0 w 638"/>
                <a:gd name="T5" fmla="*/ 0 h 635"/>
                <a:gd name="T6" fmla="*/ 637 w 638"/>
                <a:gd name="T7" fmla="*/ 369 h 635"/>
                <a:gd name="T8" fmla="*/ 638 w 638"/>
                <a:gd name="T9" fmla="*/ 635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8" h="635">
                  <a:moveTo>
                    <a:pt x="638" y="635"/>
                  </a:moveTo>
                  <a:lnTo>
                    <a:pt x="0" y="264"/>
                  </a:lnTo>
                  <a:lnTo>
                    <a:pt x="0" y="0"/>
                  </a:lnTo>
                  <a:lnTo>
                    <a:pt x="637" y="369"/>
                  </a:lnTo>
                  <a:lnTo>
                    <a:pt x="638" y="635"/>
                  </a:lnTo>
                  <a:close/>
                </a:path>
              </a:pathLst>
            </a:custGeom>
            <a:solidFill>
              <a:srgbClr val="ADB9C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" name="Freeform 9"/>
            <p:cNvSpPr/>
            <p:nvPr/>
          </p:nvSpPr>
          <p:spPr bwMode="auto">
            <a:xfrm>
              <a:off x="4685951" y="4739377"/>
              <a:ext cx="786374" cy="782676"/>
            </a:xfrm>
            <a:custGeom>
              <a:avLst/>
              <a:gdLst>
                <a:gd name="T0" fmla="*/ 638 w 638"/>
                <a:gd name="T1" fmla="*/ 635 h 635"/>
                <a:gd name="T2" fmla="*/ 0 w 638"/>
                <a:gd name="T3" fmla="*/ 264 h 635"/>
                <a:gd name="T4" fmla="*/ 0 w 638"/>
                <a:gd name="T5" fmla="*/ 0 h 635"/>
                <a:gd name="T6" fmla="*/ 637 w 638"/>
                <a:gd name="T7" fmla="*/ 370 h 635"/>
                <a:gd name="T8" fmla="*/ 638 w 638"/>
                <a:gd name="T9" fmla="*/ 635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8" h="635">
                  <a:moveTo>
                    <a:pt x="638" y="635"/>
                  </a:moveTo>
                  <a:lnTo>
                    <a:pt x="0" y="264"/>
                  </a:lnTo>
                  <a:lnTo>
                    <a:pt x="0" y="0"/>
                  </a:lnTo>
                  <a:lnTo>
                    <a:pt x="637" y="370"/>
                  </a:lnTo>
                  <a:lnTo>
                    <a:pt x="638" y="635"/>
                  </a:lnTo>
                  <a:close/>
                </a:path>
              </a:pathLst>
            </a:custGeom>
            <a:solidFill>
              <a:srgbClr val="ADB9C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Freeform 10"/>
            <p:cNvSpPr/>
            <p:nvPr/>
          </p:nvSpPr>
          <p:spPr bwMode="auto">
            <a:xfrm>
              <a:off x="4685951" y="4245120"/>
              <a:ext cx="1639305" cy="950305"/>
            </a:xfrm>
            <a:custGeom>
              <a:avLst/>
              <a:gdLst>
                <a:gd name="T0" fmla="*/ 637 w 1330"/>
                <a:gd name="T1" fmla="*/ 771 h 771"/>
                <a:gd name="T2" fmla="*/ 0 w 1330"/>
                <a:gd name="T3" fmla="*/ 401 h 771"/>
                <a:gd name="T4" fmla="*/ 692 w 1330"/>
                <a:gd name="T5" fmla="*/ 0 h 771"/>
                <a:gd name="T6" fmla="*/ 1330 w 1330"/>
                <a:gd name="T7" fmla="*/ 371 h 771"/>
                <a:gd name="T8" fmla="*/ 637 w 1330"/>
                <a:gd name="T9" fmla="*/ 771 h 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0" h="771">
                  <a:moveTo>
                    <a:pt x="637" y="771"/>
                  </a:moveTo>
                  <a:lnTo>
                    <a:pt x="0" y="401"/>
                  </a:lnTo>
                  <a:lnTo>
                    <a:pt x="692" y="0"/>
                  </a:lnTo>
                  <a:lnTo>
                    <a:pt x="1330" y="371"/>
                  </a:lnTo>
                  <a:lnTo>
                    <a:pt x="637" y="771"/>
                  </a:lnTo>
                  <a:close/>
                </a:path>
              </a:pathLst>
            </a:custGeom>
            <a:solidFill>
              <a:srgbClr val="C9C9C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11"/>
            <p:cNvSpPr/>
            <p:nvPr/>
          </p:nvSpPr>
          <p:spPr bwMode="auto">
            <a:xfrm>
              <a:off x="3833019" y="5557797"/>
              <a:ext cx="786374" cy="797467"/>
            </a:xfrm>
            <a:custGeom>
              <a:avLst/>
              <a:gdLst>
                <a:gd name="T0" fmla="*/ 638 w 638"/>
                <a:gd name="T1" fmla="*/ 647 h 647"/>
                <a:gd name="T2" fmla="*/ 1 w 638"/>
                <a:gd name="T3" fmla="*/ 277 h 647"/>
                <a:gd name="T4" fmla="*/ 0 w 638"/>
                <a:gd name="T5" fmla="*/ 0 h 647"/>
                <a:gd name="T6" fmla="*/ 638 w 638"/>
                <a:gd name="T7" fmla="*/ 371 h 647"/>
                <a:gd name="T8" fmla="*/ 638 w 638"/>
                <a:gd name="T9" fmla="*/ 647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8" h="647">
                  <a:moveTo>
                    <a:pt x="638" y="647"/>
                  </a:moveTo>
                  <a:lnTo>
                    <a:pt x="1" y="277"/>
                  </a:lnTo>
                  <a:lnTo>
                    <a:pt x="0" y="0"/>
                  </a:lnTo>
                  <a:lnTo>
                    <a:pt x="638" y="371"/>
                  </a:lnTo>
                  <a:lnTo>
                    <a:pt x="638" y="647"/>
                  </a:lnTo>
                  <a:close/>
                </a:path>
              </a:pathLst>
            </a:custGeom>
            <a:solidFill>
              <a:srgbClr val="015BA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Freeform 12"/>
            <p:cNvSpPr/>
            <p:nvPr/>
          </p:nvSpPr>
          <p:spPr bwMode="auto">
            <a:xfrm>
              <a:off x="4619393" y="2794396"/>
              <a:ext cx="3490611" cy="3560868"/>
            </a:xfrm>
            <a:custGeom>
              <a:avLst/>
              <a:gdLst>
                <a:gd name="T0" fmla="*/ 2831 w 2832"/>
                <a:gd name="T1" fmla="*/ 0 h 2889"/>
                <a:gd name="T2" fmla="*/ 2832 w 2832"/>
                <a:gd name="T3" fmla="*/ 254 h 2889"/>
                <a:gd name="T4" fmla="*/ 2139 w 2832"/>
                <a:gd name="T5" fmla="*/ 654 h 2889"/>
                <a:gd name="T6" fmla="*/ 2140 w 2832"/>
                <a:gd name="T7" fmla="*/ 920 h 2889"/>
                <a:gd name="T8" fmla="*/ 1447 w 2832"/>
                <a:gd name="T9" fmla="*/ 1319 h 2889"/>
                <a:gd name="T10" fmla="*/ 1448 w 2832"/>
                <a:gd name="T11" fmla="*/ 1585 h 2889"/>
                <a:gd name="T12" fmla="*/ 756 w 2832"/>
                <a:gd name="T13" fmla="*/ 1985 h 2889"/>
                <a:gd name="T14" fmla="*/ 756 w 2832"/>
                <a:gd name="T15" fmla="*/ 2249 h 2889"/>
                <a:gd name="T16" fmla="*/ 64 w 2832"/>
                <a:gd name="T17" fmla="*/ 2649 h 2889"/>
                <a:gd name="T18" fmla="*/ 64 w 2832"/>
                <a:gd name="T19" fmla="*/ 2852 h 2889"/>
                <a:gd name="T20" fmla="*/ 0 w 2832"/>
                <a:gd name="T21" fmla="*/ 2889 h 2889"/>
                <a:gd name="T22" fmla="*/ 0 w 2832"/>
                <a:gd name="T23" fmla="*/ 2613 h 2889"/>
                <a:gd name="T24" fmla="*/ 692 w 2832"/>
                <a:gd name="T25" fmla="*/ 2213 h 2889"/>
                <a:gd name="T26" fmla="*/ 691 w 2832"/>
                <a:gd name="T27" fmla="*/ 1948 h 2889"/>
                <a:gd name="T28" fmla="*/ 1384 w 2832"/>
                <a:gd name="T29" fmla="*/ 1548 h 2889"/>
                <a:gd name="T30" fmla="*/ 1383 w 2832"/>
                <a:gd name="T31" fmla="*/ 1282 h 2889"/>
                <a:gd name="T32" fmla="*/ 2076 w 2832"/>
                <a:gd name="T33" fmla="*/ 883 h 2889"/>
                <a:gd name="T34" fmla="*/ 2075 w 2832"/>
                <a:gd name="T35" fmla="*/ 617 h 2889"/>
                <a:gd name="T36" fmla="*/ 2767 w 2832"/>
                <a:gd name="T37" fmla="*/ 217 h 2889"/>
                <a:gd name="T38" fmla="*/ 2767 w 2832"/>
                <a:gd name="T39" fmla="*/ 37 h 2889"/>
                <a:gd name="T40" fmla="*/ 2831 w 2832"/>
                <a:gd name="T41" fmla="*/ 0 h 28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32" h="2889">
                  <a:moveTo>
                    <a:pt x="2831" y="0"/>
                  </a:moveTo>
                  <a:lnTo>
                    <a:pt x="2832" y="254"/>
                  </a:lnTo>
                  <a:lnTo>
                    <a:pt x="2139" y="654"/>
                  </a:lnTo>
                  <a:lnTo>
                    <a:pt x="2140" y="920"/>
                  </a:lnTo>
                  <a:lnTo>
                    <a:pt x="1447" y="1319"/>
                  </a:lnTo>
                  <a:lnTo>
                    <a:pt x="1448" y="1585"/>
                  </a:lnTo>
                  <a:lnTo>
                    <a:pt x="756" y="1985"/>
                  </a:lnTo>
                  <a:lnTo>
                    <a:pt x="756" y="2249"/>
                  </a:lnTo>
                  <a:lnTo>
                    <a:pt x="64" y="2649"/>
                  </a:lnTo>
                  <a:lnTo>
                    <a:pt x="64" y="2852"/>
                  </a:lnTo>
                  <a:lnTo>
                    <a:pt x="0" y="2889"/>
                  </a:lnTo>
                  <a:lnTo>
                    <a:pt x="0" y="2613"/>
                  </a:lnTo>
                  <a:lnTo>
                    <a:pt x="692" y="2213"/>
                  </a:lnTo>
                  <a:lnTo>
                    <a:pt x="691" y="1948"/>
                  </a:lnTo>
                  <a:lnTo>
                    <a:pt x="1384" y="1548"/>
                  </a:lnTo>
                  <a:lnTo>
                    <a:pt x="1383" y="1282"/>
                  </a:lnTo>
                  <a:lnTo>
                    <a:pt x="2076" y="883"/>
                  </a:lnTo>
                  <a:lnTo>
                    <a:pt x="2075" y="617"/>
                  </a:lnTo>
                  <a:lnTo>
                    <a:pt x="2767" y="217"/>
                  </a:lnTo>
                  <a:lnTo>
                    <a:pt x="2767" y="37"/>
                  </a:lnTo>
                  <a:lnTo>
                    <a:pt x="2831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1" name="Freeform 13"/>
            <p:cNvSpPr/>
            <p:nvPr/>
          </p:nvSpPr>
          <p:spPr bwMode="auto">
            <a:xfrm>
              <a:off x="3833019" y="5064773"/>
              <a:ext cx="1639305" cy="950305"/>
            </a:xfrm>
            <a:custGeom>
              <a:avLst/>
              <a:gdLst>
                <a:gd name="T0" fmla="*/ 638 w 1330"/>
                <a:gd name="T1" fmla="*/ 771 h 771"/>
                <a:gd name="T2" fmla="*/ 0 w 1330"/>
                <a:gd name="T3" fmla="*/ 400 h 771"/>
                <a:gd name="T4" fmla="*/ 692 w 1330"/>
                <a:gd name="T5" fmla="*/ 0 h 771"/>
                <a:gd name="T6" fmla="*/ 1330 w 1330"/>
                <a:gd name="T7" fmla="*/ 371 h 771"/>
                <a:gd name="T8" fmla="*/ 638 w 1330"/>
                <a:gd name="T9" fmla="*/ 771 h 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0" h="771">
                  <a:moveTo>
                    <a:pt x="638" y="771"/>
                  </a:moveTo>
                  <a:lnTo>
                    <a:pt x="0" y="400"/>
                  </a:lnTo>
                  <a:lnTo>
                    <a:pt x="692" y="0"/>
                  </a:lnTo>
                  <a:lnTo>
                    <a:pt x="1330" y="371"/>
                  </a:lnTo>
                  <a:lnTo>
                    <a:pt x="638" y="771"/>
                  </a:lnTo>
                  <a:close/>
                </a:path>
              </a:pathLst>
            </a:custGeom>
            <a:solidFill>
              <a:srgbClr val="015BA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14"/>
            <p:cNvSpPr/>
            <p:nvPr/>
          </p:nvSpPr>
          <p:spPr bwMode="auto">
            <a:xfrm>
              <a:off x="7641631" y="1832999"/>
              <a:ext cx="717350" cy="1158607"/>
            </a:xfrm>
            <a:custGeom>
              <a:avLst/>
              <a:gdLst>
                <a:gd name="T0" fmla="*/ 59 w 582"/>
                <a:gd name="T1" fmla="*/ 0 h 940"/>
                <a:gd name="T2" fmla="*/ 0 w 582"/>
                <a:gd name="T3" fmla="*/ 34 h 940"/>
                <a:gd name="T4" fmla="*/ 523 w 582"/>
                <a:gd name="T5" fmla="*/ 940 h 940"/>
                <a:gd name="T6" fmla="*/ 582 w 582"/>
                <a:gd name="T7" fmla="*/ 906 h 940"/>
                <a:gd name="T8" fmla="*/ 59 w 582"/>
                <a:gd name="T9" fmla="*/ 0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2" h="940">
                  <a:moveTo>
                    <a:pt x="59" y="0"/>
                  </a:moveTo>
                  <a:lnTo>
                    <a:pt x="0" y="34"/>
                  </a:lnTo>
                  <a:lnTo>
                    <a:pt x="523" y="940"/>
                  </a:lnTo>
                  <a:lnTo>
                    <a:pt x="582" y="906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15"/>
            <p:cNvSpPr/>
            <p:nvPr/>
          </p:nvSpPr>
          <p:spPr bwMode="auto">
            <a:xfrm>
              <a:off x="6992071" y="1874906"/>
              <a:ext cx="1294188" cy="1186956"/>
            </a:xfrm>
            <a:custGeom>
              <a:avLst/>
              <a:gdLst>
                <a:gd name="T0" fmla="*/ 1050 w 1050"/>
                <a:gd name="T1" fmla="*/ 906 h 963"/>
                <a:gd name="T2" fmla="*/ 527 w 1050"/>
                <a:gd name="T3" fmla="*/ 0 h 963"/>
                <a:gd name="T4" fmla="*/ 0 w 1050"/>
                <a:gd name="T5" fmla="*/ 300 h 963"/>
                <a:gd name="T6" fmla="*/ 205 w 1050"/>
                <a:gd name="T7" fmla="*/ 418 h 963"/>
                <a:gd name="T8" fmla="*/ 206 w 1050"/>
                <a:gd name="T9" fmla="*/ 593 h 963"/>
                <a:gd name="T10" fmla="*/ 842 w 1050"/>
                <a:gd name="T11" fmla="*/ 963 h 963"/>
                <a:gd name="T12" fmla="*/ 842 w 1050"/>
                <a:gd name="T13" fmla="*/ 786 h 963"/>
                <a:gd name="T14" fmla="*/ 1050 w 1050"/>
                <a:gd name="T15" fmla="*/ 906 h 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0" h="963">
                  <a:moveTo>
                    <a:pt x="1050" y="906"/>
                  </a:moveTo>
                  <a:lnTo>
                    <a:pt x="527" y="0"/>
                  </a:lnTo>
                  <a:lnTo>
                    <a:pt x="0" y="300"/>
                  </a:lnTo>
                  <a:lnTo>
                    <a:pt x="205" y="418"/>
                  </a:lnTo>
                  <a:lnTo>
                    <a:pt x="206" y="593"/>
                  </a:lnTo>
                  <a:lnTo>
                    <a:pt x="842" y="963"/>
                  </a:lnTo>
                  <a:lnTo>
                    <a:pt x="842" y="786"/>
                  </a:lnTo>
                  <a:lnTo>
                    <a:pt x="1050" y="906"/>
                  </a:lnTo>
                  <a:close/>
                </a:path>
              </a:pathLst>
            </a:custGeom>
            <a:solidFill>
              <a:srgbClr val="48BAF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14" name="Group 33"/>
          <p:cNvGrpSpPr/>
          <p:nvPr/>
        </p:nvGrpSpPr>
        <p:grpSpPr>
          <a:xfrm>
            <a:off x="6269263" y="4350697"/>
            <a:ext cx="364838" cy="228024"/>
            <a:chOff x="4746346" y="4203213"/>
            <a:chExt cx="364838" cy="228024"/>
          </a:xfrm>
          <a:solidFill>
            <a:srgbClr val="ADB9CA"/>
          </a:solidFill>
        </p:grpSpPr>
        <p:sp>
          <p:nvSpPr>
            <p:cNvPr id="15" name="Freeform 18"/>
            <p:cNvSpPr/>
            <p:nvPr/>
          </p:nvSpPr>
          <p:spPr bwMode="auto">
            <a:xfrm>
              <a:off x="4746346" y="4203213"/>
              <a:ext cx="335256" cy="195978"/>
            </a:xfrm>
            <a:custGeom>
              <a:avLst/>
              <a:gdLst>
                <a:gd name="T0" fmla="*/ 226 w 229"/>
                <a:gd name="T1" fmla="*/ 134 h 134"/>
                <a:gd name="T2" fmla="*/ 225 w 229"/>
                <a:gd name="T3" fmla="*/ 134 h 134"/>
                <a:gd name="T4" fmla="*/ 2 w 229"/>
                <a:gd name="T5" fmla="*/ 5 h 134"/>
                <a:gd name="T6" fmla="*/ 1 w 229"/>
                <a:gd name="T7" fmla="*/ 1 h 134"/>
                <a:gd name="T8" fmla="*/ 4 w 229"/>
                <a:gd name="T9" fmla="*/ 1 h 134"/>
                <a:gd name="T10" fmla="*/ 227 w 229"/>
                <a:gd name="T11" fmla="*/ 129 h 134"/>
                <a:gd name="T12" fmla="*/ 228 w 229"/>
                <a:gd name="T13" fmla="*/ 133 h 134"/>
                <a:gd name="T14" fmla="*/ 226 w 229"/>
                <a:gd name="T15" fmla="*/ 13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9" h="134">
                  <a:moveTo>
                    <a:pt x="226" y="134"/>
                  </a:moveTo>
                  <a:cubicBezTo>
                    <a:pt x="225" y="134"/>
                    <a:pt x="225" y="134"/>
                    <a:pt x="225" y="13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0" y="3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227" y="129"/>
                    <a:pt x="227" y="129"/>
                    <a:pt x="227" y="129"/>
                  </a:cubicBezTo>
                  <a:cubicBezTo>
                    <a:pt x="228" y="130"/>
                    <a:pt x="229" y="132"/>
                    <a:pt x="228" y="133"/>
                  </a:cubicBezTo>
                  <a:cubicBezTo>
                    <a:pt x="227" y="133"/>
                    <a:pt x="227" y="134"/>
                    <a:pt x="226" y="1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6" name="Freeform 19"/>
            <p:cNvSpPr/>
            <p:nvPr/>
          </p:nvSpPr>
          <p:spPr bwMode="auto">
            <a:xfrm>
              <a:off x="5038463" y="4359748"/>
              <a:ext cx="72721" cy="71489"/>
            </a:xfrm>
            <a:custGeom>
              <a:avLst/>
              <a:gdLst>
                <a:gd name="T0" fmla="*/ 6 w 49"/>
                <a:gd name="T1" fmla="*/ 13 h 49"/>
                <a:gd name="T2" fmla="*/ 35 w 49"/>
                <a:gd name="T3" fmla="*/ 6 h 49"/>
                <a:gd name="T4" fmla="*/ 43 w 49"/>
                <a:gd name="T5" fmla="*/ 35 h 49"/>
                <a:gd name="T6" fmla="*/ 13 w 49"/>
                <a:gd name="T7" fmla="*/ 43 h 49"/>
                <a:gd name="T8" fmla="*/ 6 w 49"/>
                <a:gd name="T9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49">
                  <a:moveTo>
                    <a:pt x="6" y="13"/>
                  </a:moveTo>
                  <a:cubicBezTo>
                    <a:pt x="12" y="3"/>
                    <a:pt x="25" y="0"/>
                    <a:pt x="35" y="6"/>
                  </a:cubicBezTo>
                  <a:cubicBezTo>
                    <a:pt x="45" y="12"/>
                    <a:pt x="49" y="25"/>
                    <a:pt x="43" y="35"/>
                  </a:cubicBezTo>
                  <a:cubicBezTo>
                    <a:pt x="37" y="46"/>
                    <a:pt x="23" y="49"/>
                    <a:pt x="13" y="43"/>
                  </a:cubicBezTo>
                  <a:cubicBezTo>
                    <a:pt x="3" y="37"/>
                    <a:pt x="0" y="24"/>
                    <a:pt x="6" y="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17" name="Group 71"/>
          <p:cNvGrpSpPr/>
          <p:nvPr/>
        </p:nvGrpSpPr>
        <p:grpSpPr>
          <a:xfrm>
            <a:off x="7125893" y="3534742"/>
            <a:ext cx="361140" cy="228024"/>
            <a:chOff x="5716658" y="3387258"/>
            <a:chExt cx="361140" cy="228024"/>
          </a:xfrm>
        </p:grpSpPr>
        <p:sp>
          <p:nvSpPr>
            <p:cNvPr id="18" name="Freeform 17"/>
            <p:cNvSpPr/>
            <p:nvPr/>
          </p:nvSpPr>
          <p:spPr bwMode="auto">
            <a:xfrm>
              <a:off x="5716658" y="3387258"/>
              <a:ext cx="332791" cy="195978"/>
            </a:xfrm>
            <a:custGeom>
              <a:avLst/>
              <a:gdLst>
                <a:gd name="T0" fmla="*/ 225 w 228"/>
                <a:gd name="T1" fmla="*/ 134 h 134"/>
                <a:gd name="T2" fmla="*/ 224 w 228"/>
                <a:gd name="T3" fmla="*/ 133 h 134"/>
                <a:gd name="T4" fmla="*/ 1 w 228"/>
                <a:gd name="T5" fmla="*/ 4 h 134"/>
                <a:gd name="T6" fmla="*/ 0 w 228"/>
                <a:gd name="T7" fmla="*/ 1 h 134"/>
                <a:gd name="T8" fmla="*/ 4 w 228"/>
                <a:gd name="T9" fmla="*/ 0 h 134"/>
                <a:gd name="T10" fmla="*/ 226 w 228"/>
                <a:gd name="T11" fmla="*/ 129 h 134"/>
                <a:gd name="T12" fmla="*/ 227 w 228"/>
                <a:gd name="T13" fmla="*/ 132 h 134"/>
                <a:gd name="T14" fmla="*/ 225 w 228"/>
                <a:gd name="T15" fmla="*/ 13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8" h="134">
                  <a:moveTo>
                    <a:pt x="225" y="134"/>
                  </a:moveTo>
                  <a:cubicBezTo>
                    <a:pt x="225" y="134"/>
                    <a:pt x="224" y="134"/>
                    <a:pt x="224" y="13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0" y="2"/>
                    <a:pt x="0" y="1"/>
                  </a:cubicBezTo>
                  <a:cubicBezTo>
                    <a:pt x="1" y="0"/>
                    <a:pt x="2" y="0"/>
                    <a:pt x="4" y="0"/>
                  </a:cubicBezTo>
                  <a:cubicBezTo>
                    <a:pt x="226" y="129"/>
                    <a:pt x="226" y="129"/>
                    <a:pt x="226" y="129"/>
                  </a:cubicBezTo>
                  <a:cubicBezTo>
                    <a:pt x="228" y="130"/>
                    <a:pt x="228" y="131"/>
                    <a:pt x="227" y="132"/>
                  </a:cubicBezTo>
                  <a:cubicBezTo>
                    <a:pt x="227" y="133"/>
                    <a:pt x="226" y="134"/>
                    <a:pt x="225" y="134"/>
                  </a:cubicBez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20"/>
            <p:cNvSpPr/>
            <p:nvPr/>
          </p:nvSpPr>
          <p:spPr bwMode="auto">
            <a:xfrm>
              <a:off x="6003844" y="3543793"/>
              <a:ext cx="73954" cy="71489"/>
            </a:xfrm>
            <a:custGeom>
              <a:avLst/>
              <a:gdLst>
                <a:gd name="T0" fmla="*/ 6 w 50"/>
                <a:gd name="T1" fmla="*/ 13 h 49"/>
                <a:gd name="T2" fmla="*/ 36 w 50"/>
                <a:gd name="T3" fmla="*/ 6 h 49"/>
                <a:gd name="T4" fmla="*/ 44 w 50"/>
                <a:gd name="T5" fmla="*/ 35 h 49"/>
                <a:gd name="T6" fmla="*/ 14 w 50"/>
                <a:gd name="T7" fmla="*/ 43 h 49"/>
                <a:gd name="T8" fmla="*/ 6 w 50"/>
                <a:gd name="T9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49">
                  <a:moveTo>
                    <a:pt x="6" y="13"/>
                  </a:moveTo>
                  <a:cubicBezTo>
                    <a:pt x="13" y="3"/>
                    <a:pt x="26" y="0"/>
                    <a:pt x="36" y="6"/>
                  </a:cubicBezTo>
                  <a:cubicBezTo>
                    <a:pt x="46" y="12"/>
                    <a:pt x="50" y="25"/>
                    <a:pt x="44" y="35"/>
                  </a:cubicBezTo>
                  <a:cubicBezTo>
                    <a:pt x="37" y="45"/>
                    <a:pt x="24" y="49"/>
                    <a:pt x="14" y="43"/>
                  </a:cubicBezTo>
                  <a:cubicBezTo>
                    <a:pt x="4" y="37"/>
                    <a:pt x="0" y="23"/>
                    <a:pt x="6" y="1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20" name="Group 31"/>
          <p:cNvGrpSpPr/>
          <p:nvPr/>
        </p:nvGrpSpPr>
        <p:grpSpPr>
          <a:xfrm>
            <a:off x="7988685" y="2707694"/>
            <a:ext cx="367303" cy="228024"/>
            <a:chOff x="6465768" y="2560210"/>
            <a:chExt cx="367303" cy="228024"/>
          </a:xfrm>
          <a:solidFill>
            <a:srgbClr val="48BAF8"/>
          </a:solidFill>
        </p:grpSpPr>
        <p:sp>
          <p:nvSpPr>
            <p:cNvPr id="21" name="Freeform 16"/>
            <p:cNvSpPr/>
            <p:nvPr/>
          </p:nvSpPr>
          <p:spPr bwMode="auto">
            <a:xfrm>
              <a:off x="6465768" y="2560210"/>
              <a:ext cx="335256" cy="195978"/>
            </a:xfrm>
            <a:custGeom>
              <a:avLst/>
              <a:gdLst>
                <a:gd name="T0" fmla="*/ 226 w 229"/>
                <a:gd name="T1" fmla="*/ 134 h 134"/>
                <a:gd name="T2" fmla="*/ 225 w 229"/>
                <a:gd name="T3" fmla="*/ 134 h 134"/>
                <a:gd name="T4" fmla="*/ 2 w 229"/>
                <a:gd name="T5" fmla="*/ 5 h 134"/>
                <a:gd name="T6" fmla="*/ 1 w 229"/>
                <a:gd name="T7" fmla="*/ 2 h 134"/>
                <a:gd name="T8" fmla="*/ 4 w 229"/>
                <a:gd name="T9" fmla="*/ 1 h 134"/>
                <a:gd name="T10" fmla="*/ 227 w 229"/>
                <a:gd name="T11" fmla="*/ 130 h 134"/>
                <a:gd name="T12" fmla="*/ 228 w 229"/>
                <a:gd name="T13" fmla="*/ 133 h 134"/>
                <a:gd name="T14" fmla="*/ 226 w 229"/>
                <a:gd name="T15" fmla="*/ 13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9" h="134">
                  <a:moveTo>
                    <a:pt x="226" y="134"/>
                  </a:moveTo>
                  <a:cubicBezTo>
                    <a:pt x="225" y="134"/>
                    <a:pt x="225" y="134"/>
                    <a:pt x="225" y="13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0" y="3"/>
                    <a:pt x="1" y="2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227" y="130"/>
                    <a:pt x="227" y="130"/>
                    <a:pt x="227" y="130"/>
                  </a:cubicBezTo>
                  <a:cubicBezTo>
                    <a:pt x="228" y="130"/>
                    <a:pt x="229" y="132"/>
                    <a:pt x="228" y="133"/>
                  </a:cubicBezTo>
                  <a:cubicBezTo>
                    <a:pt x="228" y="134"/>
                    <a:pt x="227" y="134"/>
                    <a:pt x="226" y="1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6760350" y="2716745"/>
              <a:ext cx="72721" cy="71489"/>
            </a:xfrm>
            <a:custGeom>
              <a:avLst/>
              <a:gdLst>
                <a:gd name="T0" fmla="*/ 6 w 50"/>
                <a:gd name="T1" fmla="*/ 14 h 49"/>
                <a:gd name="T2" fmla="*/ 36 w 50"/>
                <a:gd name="T3" fmla="*/ 6 h 49"/>
                <a:gd name="T4" fmla="*/ 43 w 50"/>
                <a:gd name="T5" fmla="*/ 36 h 49"/>
                <a:gd name="T6" fmla="*/ 14 w 50"/>
                <a:gd name="T7" fmla="*/ 43 h 49"/>
                <a:gd name="T8" fmla="*/ 6 w 50"/>
                <a:gd name="T9" fmla="*/ 1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49">
                  <a:moveTo>
                    <a:pt x="6" y="14"/>
                  </a:moveTo>
                  <a:cubicBezTo>
                    <a:pt x="12" y="3"/>
                    <a:pt x="26" y="0"/>
                    <a:pt x="36" y="6"/>
                  </a:cubicBezTo>
                  <a:cubicBezTo>
                    <a:pt x="46" y="12"/>
                    <a:pt x="50" y="25"/>
                    <a:pt x="43" y="36"/>
                  </a:cubicBezTo>
                  <a:cubicBezTo>
                    <a:pt x="37" y="46"/>
                    <a:pt x="24" y="49"/>
                    <a:pt x="14" y="43"/>
                  </a:cubicBezTo>
                  <a:cubicBezTo>
                    <a:pt x="4" y="37"/>
                    <a:pt x="0" y="24"/>
                    <a:pt x="6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23" name="Group 34"/>
          <p:cNvGrpSpPr/>
          <p:nvPr/>
        </p:nvGrpSpPr>
        <p:grpSpPr>
          <a:xfrm>
            <a:off x="5401540" y="5186373"/>
            <a:ext cx="366072" cy="228024"/>
            <a:chOff x="3878623" y="5038889"/>
            <a:chExt cx="366072" cy="228024"/>
          </a:xfrm>
        </p:grpSpPr>
        <p:sp>
          <p:nvSpPr>
            <p:cNvPr id="24" name="Freeform 22"/>
            <p:cNvSpPr/>
            <p:nvPr/>
          </p:nvSpPr>
          <p:spPr bwMode="auto">
            <a:xfrm>
              <a:off x="3878623" y="5038889"/>
              <a:ext cx="334024" cy="195978"/>
            </a:xfrm>
            <a:custGeom>
              <a:avLst/>
              <a:gdLst>
                <a:gd name="T0" fmla="*/ 226 w 228"/>
                <a:gd name="T1" fmla="*/ 134 h 134"/>
                <a:gd name="T2" fmla="*/ 224 w 228"/>
                <a:gd name="T3" fmla="*/ 133 h 134"/>
                <a:gd name="T4" fmla="*/ 2 w 228"/>
                <a:gd name="T5" fmla="*/ 5 h 134"/>
                <a:gd name="T6" fmla="*/ 1 w 228"/>
                <a:gd name="T7" fmla="*/ 1 h 134"/>
                <a:gd name="T8" fmla="*/ 4 w 228"/>
                <a:gd name="T9" fmla="*/ 0 h 134"/>
                <a:gd name="T10" fmla="*/ 227 w 228"/>
                <a:gd name="T11" fmla="*/ 129 h 134"/>
                <a:gd name="T12" fmla="*/ 228 w 228"/>
                <a:gd name="T13" fmla="*/ 133 h 134"/>
                <a:gd name="T14" fmla="*/ 226 w 228"/>
                <a:gd name="T15" fmla="*/ 13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8" h="134">
                  <a:moveTo>
                    <a:pt x="226" y="134"/>
                  </a:moveTo>
                  <a:cubicBezTo>
                    <a:pt x="225" y="134"/>
                    <a:pt x="225" y="134"/>
                    <a:pt x="224" y="133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1" y="0"/>
                    <a:pt x="3" y="0"/>
                    <a:pt x="4" y="0"/>
                  </a:cubicBezTo>
                  <a:cubicBezTo>
                    <a:pt x="227" y="129"/>
                    <a:pt x="227" y="129"/>
                    <a:pt x="227" y="129"/>
                  </a:cubicBezTo>
                  <a:cubicBezTo>
                    <a:pt x="228" y="130"/>
                    <a:pt x="228" y="131"/>
                    <a:pt x="228" y="133"/>
                  </a:cubicBezTo>
                  <a:cubicBezTo>
                    <a:pt x="227" y="133"/>
                    <a:pt x="226" y="134"/>
                    <a:pt x="226" y="134"/>
                  </a:cubicBez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5" name="Freeform 23"/>
            <p:cNvSpPr/>
            <p:nvPr/>
          </p:nvSpPr>
          <p:spPr bwMode="auto">
            <a:xfrm>
              <a:off x="4173206" y="5195424"/>
              <a:ext cx="71489" cy="71489"/>
            </a:xfrm>
            <a:custGeom>
              <a:avLst/>
              <a:gdLst>
                <a:gd name="T0" fmla="*/ 6 w 49"/>
                <a:gd name="T1" fmla="*/ 13 h 49"/>
                <a:gd name="T2" fmla="*/ 36 w 49"/>
                <a:gd name="T3" fmla="*/ 6 h 49"/>
                <a:gd name="T4" fmla="*/ 43 w 49"/>
                <a:gd name="T5" fmla="*/ 35 h 49"/>
                <a:gd name="T6" fmla="*/ 14 w 49"/>
                <a:gd name="T7" fmla="*/ 43 h 49"/>
                <a:gd name="T8" fmla="*/ 6 w 49"/>
                <a:gd name="T9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49">
                  <a:moveTo>
                    <a:pt x="6" y="13"/>
                  </a:moveTo>
                  <a:cubicBezTo>
                    <a:pt x="12" y="3"/>
                    <a:pt x="25" y="0"/>
                    <a:pt x="36" y="6"/>
                  </a:cubicBezTo>
                  <a:cubicBezTo>
                    <a:pt x="46" y="12"/>
                    <a:pt x="49" y="25"/>
                    <a:pt x="43" y="35"/>
                  </a:cubicBezTo>
                  <a:cubicBezTo>
                    <a:pt x="37" y="46"/>
                    <a:pt x="24" y="49"/>
                    <a:pt x="14" y="43"/>
                  </a:cubicBezTo>
                  <a:cubicBezTo>
                    <a:pt x="3" y="37"/>
                    <a:pt x="0" y="24"/>
                    <a:pt x="6" y="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26" name="Group 35"/>
          <p:cNvGrpSpPr/>
          <p:nvPr/>
        </p:nvGrpSpPr>
        <p:grpSpPr>
          <a:xfrm>
            <a:off x="5825541" y="5452606"/>
            <a:ext cx="730909" cy="420303"/>
            <a:chOff x="4302624" y="5305122"/>
            <a:chExt cx="730909" cy="420303"/>
          </a:xfrm>
        </p:grpSpPr>
        <p:sp>
          <p:nvSpPr>
            <p:cNvPr id="27" name="Freeform 24"/>
            <p:cNvSpPr/>
            <p:nvPr/>
          </p:nvSpPr>
          <p:spPr bwMode="auto">
            <a:xfrm>
              <a:off x="4613229" y="5305122"/>
              <a:ext cx="420304" cy="236652"/>
            </a:xfrm>
            <a:custGeom>
              <a:avLst/>
              <a:gdLst>
                <a:gd name="T0" fmla="*/ 287 w 287"/>
                <a:gd name="T1" fmla="*/ 133 h 162"/>
                <a:gd name="T2" fmla="*/ 238 w 287"/>
                <a:gd name="T3" fmla="*/ 162 h 162"/>
                <a:gd name="T4" fmla="*/ 104 w 287"/>
                <a:gd name="T5" fmla="*/ 84 h 162"/>
                <a:gd name="T6" fmla="*/ 83 w 287"/>
                <a:gd name="T7" fmla="*/ 71 h 162"/>
                <a:gd name="T8" fmla="*/ 59 w 287"/>
                <a:gd name="T9" fmla="*/ 57 h 162"/>
                <a:gd name="T10" fmla="*/ 58 w 287"/>
                <a:gd name="T11" fmla="*/ 76 h 162"/>
                <a:gd name="T12" fmla="*/ 53 w 287"/>
                <a:gd name="T13" fmla="*/ 104 h 162"/>
                <a:gd name="T14" fmla="*/ 0 w 287"/>
                <a:gd name="T15" fmla="*/ 100 h 162"/>
                <a:gd name="T16" fmla="*/ 15 w 287"/>
                <a:gd name="T17" fmla="*/ 23 h 162"/>
                <a:gd name="T18" fmla="*/ 55 w 287"/>
                <a:gd name="T19" fmla="*/ 0 h 162"/>
                <a:gd name="T20" fmla="*/ 287 w 287"/>
                <a:gd name="T21" fmla="*/ 133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7" h="162">
                  <a:moveTo>
                    <a:pt x="287" y="133"/>
                  </a:moveTo>
                  <a:cubicBezTo>
                    <a:pt x="238" y="162"/>
                    <a:pt x="238" y="162"/>
                    <a:pt x="238" y="162"/>
                  </a:cubicBezTo>
                  <a:cubicBezTo>
                    <a:pt x="104" y="84"/>
                    <a:pt x="104" y="84"/>
                    <a:pt x="104" y="84"/>
                  </a:cubicBezTo>
                  <a:cubicBezTo>
                    <a:pt x="83" y="71"/>
                    <a:pt x="83" y="71"/>
                    <a:pt x="83" y="71"/>
                  </a:cubicBezTo>
                  <a:cubicBezTo>
                    <a:pt x="59" y="57"/>
                    <a:pt x="59" y="57"/>
                    <a:pt x="59" y="57"/>
                  </a:cubicBezTo>
                  <a:cubicBezTo>
                    <a:pt x="59" y="66"/>
                    <a:pt x="59" y="73"/>
                    <a:pt x="58" y="76"/>
                  </a:cubicBezTo>
                  <a:cubicBezTo>
                    <a:pt x="53" y="104"/>
                    <a:pt x="53" y="104"/>
                    <a:pt x="53" y="104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55" y="0"/>
                    <a:pt x="55" y="0"/>
                    <a:pt x="55" y="0"/>
                  </a:cubicBezTo>
                  <a:lnTo>
                    <a:pt x="287" y="13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8" name="Freeform 25"/>
            <p:cNvSpPr>
              <a:spLocks noEditPoints="1"/>
            </p:cNvSpPr>
            <p:nvPr/>
          </p:nvSpPr>
          <p:spPr bwMode="auto">
            <a:xfrm>
              <a:off x="4302624" y="5461657"/>
              <a:ext cx="460978" cy="263768"/>
            </a:xfrm>
            <a:custGeom>
              <a:avLst/>
              <a:gdLst>
                <a:gd name="T0" fmla="*/ 308 w 315"/>
                <a:gd name="T1" fmla="*/ 107 h 180"/>
                <a:gd name="T2" fmla="*/ 277 w 315"/>
                <a:gd name="T3" fmla="*/ 159 h 180"/>
                <a:gd name="T4" fmla="*/ 186 w 315"/>
                <a:gd name="T5" fmla="*/ 177 h 180"/>
                <a:gd name="T6" fmla="*/ 77 w 315"/>
                <a:gd name="T7" fmla="*/ 137 h 180"/>
                <a:gd name="T8" fmla="*/ 7 w 315"/>
                <a:gd name="T9" fmla="*/ 73 h 180"/>
                <a:gd name="T10" fmla="*/ 38 w 315"/>
                <a:gd name="T11" fmla="*/ 21 h 180"/>
                <a:gd name="T12" fmla="*/ 129 w 315"/>
                <a:gd name="T13" fmla="*/ 4 h 180"/>
                <a:gd name="T14" fmla="*/ 238 w 315"/>
                <a:gd name="T15" fmla="*/ 44 h 180"/>
                <a:gd name="T16" fmla="*/ 308 w 315"/>
                <a:gd name="T17" fmla="*/ 107 h 180"/>
                <a:gd name="T18" fmla="*/ 194 w 315"/>
                <a:gd name="T19" fmla="*/ 140 h 180"/>
                <a:gd name="T20" fmla="*/ 237 w 315"/>
                <a:gd name="T21" fmla="*/ 136 h 180"/>
                <a:gd name="T22" fmla="*/ 243 w 315"/>
                <a:gd name="T23" fmla="*/ 111 h 180"/>
                <a:gd name="T24" fmla="*/ 190 w 315"/>
                <a:gd name="T25" fmla="*/ 72 h 180"/>
                <a:gd name="T26" fmla="*/ 121 w 315"/>
                <a:gd name="T27" fmla="*/ 41 h 180"/>
                <a:gd name="T28" fmla="*/ 78 w 315"/>
                <a:gd name="T29" fmla="*/ 44 h 180"/>
                <a:gd name="T30" fmla="*/ 72 w 315"/>
                <a:gd name="T31" fmla="*/ 69 h 180"/>
                <a:gd name="T32" fmla="*/ 126 w 315"/>
                <a:gd name="T33" fmla="*/ 109 h 180"/>
                <a:gd name="T34" fmla="*/ 194 w 315"/>
                <a:gd name="T35" fmla="*/ 14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15" h="180">
                  <a:moveTo>
                    <a:pt x="308" y="107"/>
                  </a:moveTo>
                  <a:cubicBezTo>
                    <a:pt x="315" y="126"/>
                    <a:pt x="304" y="143"/>
                    <a:pt x="277" y="159"/>
                  </a:cubicBezTo>
                  <a:cubicBezTo>
                    <a:pt x="250" y="175"/>
                    <a:pt x="220" y="180"/>
                    <a:pt x="186" y="177"/>
                  </a:cubicBezTo>
                  <a:cubicBezTo>
                    <a:pt x="153" y="173"/>
                    <a:pt x="116" y="160"/>
                    <a:pt x="77" y="137"/>
                  </a:cubicBezTo>
                  <a:cubicBezTo>
                    <a:pt x="36" y="113"/>
                    <a:pt x="13" y="92"/>
                    <a:pt x="7" y="73"/>
                  </a:cubicBezTo>
                  <a:cubicBezTo>
                    <a:pt x="0" y="55"/>
                    <a:pt x="11" y="37"/>
                    <a:pt x="38" y="21"/>
                  </a:cubicBezTo>
                  <a:cubicBezTo>
                    <a:pt x="65" y="6"/>
                    <a:pt x="95" y="0"/>
                    <a:pt x="129" y="4"/>
                  </a:cubicBezTo>
                  <a:cubicBezTo>
                    <a:pt x="163" y="8"/>
                    <a:pt x="199" y="21"/>
                    <a:pt x="238" y="44"/>
                  </a:cubicBezTo>
                  <a:cubicBezTo>
                    <a:pt x="279" y="67"/>
                    <a:pt x="302" y="88"/>
                    <a:pt x="308" y="107"/>
                  </a:cubicBezTo>
                  <a:close/>
                  <a:moveTo>
                    <a:pt x="194" y="140"/>
                  </a:moveTo>
                  <a:cubicBezTo>
                    <a:pt x="211" y="144"/>
                    <a:pt x="226" y="143"/>
                    <a:pt x="237" y="136"/>
                  </a:cubicBezTo>
                  <a:cubicBezTo>
                    <a:pt x="249" y="130"/>
                    <a:pt x="250" y="121"/>
                    <a:pt x="243" y="111"/>
                  </a:cubicBezTo>
                  <a:cubicBezTo>
                    <a:pt x="236" y="101"/>
                    <a:pt x="218" y="88"/>
                    <a:pt x="190" y="72"/>
                  </a:cubicBezTo>
                  <a:cubicBezTo>
                    <a:pt x="161" y="55"/>
                    <a:pt x="138" y="45"/>
                    <a:pt x="121" y="41"/>
                  </a:cubicBezTo>
                  <a:cubicBezTo>
                    <a:pt x="103" y="37"/>
                    <a:pt x="89" y="38"/>
                    <a:pt x="78" y="44"/>
                  </a:cubicBezTo>
                  <a:cubicBezTo>
                    <a:pt x="66" y="51"/>
                    <a:pt x="64" y="59"/>
                    <a:pt x="72" y="69"/>
                  </a:cubicBezTo>
                  <a:cubicBezTo>
                    <a:pt x="79" y="79"/>
                    <a:pt x="97" y="93"/>
                    <a:pt x="126" y="109"/>
                  </a:cubicBezTo>
                  <a:cubicBezTo>
                    <a:pt x="154" y="125"/>
                    <a:pt x="177" y="136"/>
                    <a:pt x="194" y="1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29" name="Group 36"/>
          <p:cNvGrpSpPr/>
          <p:nvPr/>
        </p:nvGrpSpPr>
        <p:grpSpPr>
          <a:xfrm>
            <a:off x="6664915" y="4639116"/>
            <a:ext cx="787606" cy="422768"/>
            <a:chOff x="5141998" y="4491632"/>
            <a:chExt cx="787606" cy="422768"/>
          </a:xfrm>
        </p:grpSpPr>
        <p:sp>
          <p:nvSpPr>
            <p:cNvPr id="30" name="Freeform 26"/>
            <p:cNvSpPr/>
            <p:nvPr/>
          </p:nvSpPr>
          <p:spPr bwMode="auto">
            <a:xfrm>
              <a:off x="5397138" y="4491632"/>
              <a:ext cx="532466" cy="299513"/>
            </a:xfrm>
            <a:custGeom>
              <a:avLst/>
              <a:gdLst>
                <a:gd name="T0" fmla="*/ 364 w 364"/>
                <a:gd name="T1" fmla="*/ 112 h 205"/>
                <a:gd name="T2" fmla="*/ 203 w 364"/>
                <a:gd name="T3" fmla="*/ 205 h 205"/>
                <a:gd name="T4" fmla="*/ 169 w 364"/>
                <a:gd name="T5" fmla="*/ 185 h 205"/>
                <a:gd name="T6" fmla="*/ 168 w 364"/>
                <a:gd name="T7" fmla="*/ 118 h 205"/>
                <a:gd name="T8" fmla="*/ 165 w 364"/>
                <a:gd name="T9" fmla="*/ 77 h 205"/>
                <a:gd name="T10" fmla="*/ 157 w 364"/>
                <a:gd name="T11" fmla="*/ 60 h 205"/>
                <a:gd name="T12" fmla="*/ 142 w 364"/>
                <a:gd name="T13" fmla="*/ 47 h 205"/>
                <a:gd name="T14" fmla="*/ 114 w 364"/>
                <a:gd name="T15" fmla="*/ 40 h 205"/>
                <a:gd name="T16" fmla="*/ 87 w 364"/>
                <a:gd name="T17" fmla="*/ 48 h 205"/>
                <a:gd name="T18" fmla="*/ 67 w 364"/>
                <a:gd name="T19" fmla="*/ 66 h 205"/>
                <a:gd name="T20" fmla="*/ 58 w 364"/>
                <a:gd name="T21" fmla="*/ 92 h 205"/>
                <a:gd name="T22" fmla="*/ 0 w 364"/>
                <a:gd name="T23" fmla="*/ 89 h 205"/>
                <a:gd name="T24" fmla="*/ 8 w 364"/>
                <a:gd name="T25" fmla="*/ 61 h 205"/>
                <a:gd name="T26" fmla="*/ 23 w 364"/>
                <a:gd name="T27" fmla="*/ 41 h 205"/>
                <a:gd name="T28" fmla="*/ 49 w 364"/>
                <a:gd name="T29" fmla="*/ 22 h 205"/>
                <a:gd name="T30" fmla="*/ 95 w 364"/>
                <a:gd name="T31" fmla="*/ 4 h 205"/>
                <a:gd name="T32" fmla="*/ 143 w 364"/>
                <a:gd name="T33" fmla="*/ 2 h 205"/>
                <a:gd name="T34" fmla="*/ 185 w 364"/>
                <a:gd name="T35" fmla="*/ 16 h 205"/>
                <a:gd name="T36" fmla="*/ 210 w 364"/>
                <a:gd name="T37" fmla="*/ 36 h 205"/>
                <a:gd name="T38" fmla="*/ 221 w 364"/>
                <a:gd name="T39" fmla="*/ 63 h 205"/>
                <a:gd name="T40" fmla="*/ 222 w 364"/>
                <a:gd name="T41" fmla="*/ 111 h 205"/>
                <a:gd name="T42" fmla="*/ 220 w 364"/>
                <a:gd name="T43" fmla="*/ 145 h 205"/>
                <a:gd name="T44" fmla="*/ 222 w 364"/>
                <a:gd name="T45" fmla="*/ 146 h 205"/>
                <a:gd name="T46" fmla="*/ 323 w 364"/>
                <a:gd name="T47" fmla="*/ 88 h 205"/>
                <a:gd name="T48" fmla="*/ 364 w 364"/>
                <a:gd name="T49" fmla="*/ 112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64" h="205">
                  <a:moveTo>
                    <a:pt x="364" y="112"/>
                  </a:moveTo>
                  <a:cubicBezTo>
                    <a:pt x="203" y="205"/>
                    <a:pt x="203" y="205"/>
                    <a:pt x="203" y="205"/>
                  </a:cubicBezTo>
                  <a:cubicBezTo>
                    <a:pt x="169" y="185"/>
                    <a:pt x="169" y="185"/>
                    <a:pt x="169" y="185"/>
                  </a:cubicBezTo>
                  <a:cubicBezTo>
                    <a:pt x="168" y="118"/>
                    <a:pt x="168" y="118"/>
                    <a:pt x="168" y="118"/>
                  </a:cubicBezTo>
                  <a:cubicBezTo>
                    <a:pt x="167" y="98"/>
                    <a:pt x="166" y="84"/>
                    <a:pt x="165" y="77"/>
                  </a:cubicBezTo>
                  <a:cubicBezTo>
                    <a:pt x="163" y="70"/>
                    <a:pt x="161" y="64"/>
                    <a:pt x="157" y="60"/>
                  </a:cubicBezTo>
                  <a:cubicBezTo>
                    <a:pt x="154" y="55"/>
                    <a:pt x="149" y="51"/>
                    <a:pt x="142" y="47"/>
                  </a:cubicBezTo>
                  <a:cubicBezTo>
                    <a:pt x="133" y="42"/>
                    <a:pt x="124" y="39"/>
                    <a:pt x="114" y="40"/>
                  </a:cubicBezTo>
                  <a:cubicBezTo>
                    <a:pt x="104" y="40"/>
                    <a:pt x="95" y="43"/>
                    <a:pt x="87" y="48"/>
                  </a:cubicBezTo>
                  <a:cubicBezTo>
                    <a:pt x="78" y="53"/>
                    <a:pt x="71" y="59"/>
                    <a:pt x="67" y="66"/>
                  </a:cubicBezTo>
                  <a:cubicBezTo>
                    <a:pt x="63" y="74"/>
                    <a:pt x="60" y="82"/>
                    <a:pt x="58" y="92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2" y="77"/>
                    <a:pt x="4" y="67"/>
                    <a:pt x="8" y="61"/>
                  </a:cubicBezTo>
                  <a:cubicBezTo>
                    <a:pt x="11" y="54"/>
                    <a:pt x="16" y="47"/>
                    <a:pt x="23" y="41"/>
                  </a:cubicBezTo>
                  <a:cubicBezTo>
                    <a:pt x="30" y="35"/>
                    <a:pt x="38" y="28"/>
                    <a:pt x="49" y="22"/>
                  </a:cubicBezTo>
                  <a:cubicBezTo>
                    <a:pt x="64" y="14"/>
                    <a:pt x="79" y="8"/>
                    <a:pt x="95" y="4"/>
                  </a:cubicBezTo>
                  <a:cubicBezTo>
                    <a:pt x="112" y="1"/>
                    <a:pt x="128" y="0"/>
                    <a:pt x="143" y="2"/>
                  </a:cubicBezTo>
                  <a:cubicBezTo>
                    <a:pt x="159" y="4"/>
                    <a:pt x="173" y="9"/>
                    <a:pt x="185" y="16"/>
                  </a:cubicBezTo>
                  <a:cubicBezTo>
                    <a:pt x="196" y="22"/>
                    <a:pt x="204" y="29"/>
                    <a:pt x="210" y="36"/>
                  </a:cubicBezTo>
                  <a:cubicBezTo>
                    <a:pt x="215" y="44"/>
                    <a:pt x="219" y="53"/>
                    <a:pt x="221" y="63"/>
                  </a:cubicBezTo>
                  <a:cubicBezTo>
                    <a:pt x="223" y="73"/>
                    <a:pt x="223" y="89"/>
                    <a:pt x="222" y="111"/>
                  </a:cubicBezTo>
                  <a:cubicBezTo>
                    <a:pt x="220" y="145"/>
                    <a:pt x="220" y="145"/>
                    <a:pt x="220" y="145"/>
                  </a:cubicBezTo>
                  <a:cubicBezTo>
                    <a:pt x="222" y="146"/>
                    <a:pt x="222" y="146"/>
                    <a:pt x="222" y="146"/>
                  </a:cubicBezTo>
                  <a:cubicBezTo>
                    <a:pt x="323" y="88"/>
                    <a:pt x="323" y="88"/>
                    <a:pt x="323" y="88"/>
                  </a:cubicBezTo>
                  <a:lnTo>
                    <a:pt x="364" y="1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1" name="Freeform 27"/>
            <p:cNvSpPr>
              <a:spLocks noEditPoints="1"/>
            </p:cNvSpPr>
            <p:nvPr/>
          </p:nvSpPr>
          <p:spPr bwMode="auto">
            <a:xfrm>
              <a:off x="5141998" y="4650632"/>
              <a:ext cx="458512" cy="263768"/>
            </a:xfrm>
            <a:custGeom>
              <a:avLst/>
              <a:gdLst>
                <a:gd name="T0" fmla="*/ 308 w 314"/>
                <a:gd name="T1" fmla="*/ 107 h 180"/>
                <a:gd name="T2" fmla="*/ 276 w 314"/>
                <a:gd name="T3" fmla="*/ 159 h 180"/>
                <a:gd name="T4" fmla="*/ 186 w 314"/>
                <a:gd name="T5" fmla="*/ 177 h 180"/>
                <a:gd name="T6" fmla="*/ 77 w 314"/>
                <a:gd name="T7" fmla="*/ 137 h 180"/>
                <a:gd name="T8" fmla="*/ 6 w 314"/>
                <a:gd name="T9" fmla="*/ 73 h 180"/>
                <a:gd name="T10" fmla="*/ 37 w 314"/>
                <a:gd name="T11" fmla="*/ 21 h 180"/>
                <a:gd name="T12" fmla="*/ 128 w 314"/>
                <a:gd name="T13" fmla="*/ 4 h 180"/>
                <a:gd name="T14" fmla="*/ 238 w 314"/>
                <a:gd name="T15" fmla="*/ 43 h 180"/>
                <a:gd name="T16" fmla="*/ 308 w 314"/>
                <a:gd name="T17" fmla="*/ 107 h 180"/>
                <a:gd name="T18" fmla="*/ 193 w 314"/>
                <a:gd name="T19" fmla="*/ 140 h 180"/>
                <a:gd name="T20" fmla="*/ 237 w 314"/>
                <a:gd name="T21" fmla="*/ 136 h 180"/>
                <a:gd name="T22" fmla="*/ 242 w 314"/>
                <a:gd name="T23" fmla="*/ 111 h 180"/>
                <a:gd name="T24" fmla="*/ 189 w 314"/>
                <a:gd name="T25" fmla="*/ 72 h 180"/>
                <a:gd name="T26" fmla="*/ 120 w 314"/>
                <a:gd name="T27" fmla="*/ 41 h 180"/>
                <a:gd name="T28" fmla="*/ 77 w 314"/>
                <a:gd name="T29" fmla="*/ 44 h 180"/>
                <a:gd name="T30" fmla="*/ 71 w 314"/>
                <a:gd name="T31" fmla="*/ 69 h 180"/>
                <a:gd name="T32" fmla="*/ 125 w 314"/>
                <a:gd name="T33" fmla="*/ 109 h 180"/>
                <a:gd name="T34" fmla="*/ 193 w 314"/>
                <a:gd name="T35" fmla="*/ 14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14" h="180">
                  <a:moveTo>
                    <a:pt x="308" y="107"/>
                  </a:moveTo>
                  <a:cubicBezTo>
                    <a:pt x="314" y="126"/>
                    <a:pt x="303" y="143"/>
                    <a:pt x="276" y="159"/>
                  </a:cubicBezTo>
                  <a:cubicBezTo>
                    <a:pt x="249" y="174"/>
                    <a:pt x="219" y="180"/>
                    <a:pt x="186" y="177"/>
                  </a:cubicBezTo>
                  <a:cubicBezTo>
                    <a:pt x="152" y="173"/>
                    <a:pt x="116" y="160"/>
                    <a:pt x="77" y="137"/>
                  </a:cubicBezTo>
                  <a:cubicBezTo>
                    <a:pt x="36" y="113"/>
                    <a:pt x="12" y="92"/>
                    <a:pt x="6" y="73"/>
                  </a:cubicBezTo>
                  <a:cubicBezTo>
                    <a:pt x="0" y="54"/>
                    <a:pt x="10" y="37"/>
                    <a:pt x="37" y="21"/>
                  </a:cubicBezTo>
                  <a:cubicBezTo>
                    <a:pt x="64" y="6"/>
                    <a:pt x="94" y="0"/>
                    <a:pt x="128" y="4"/>
                  </a:cubicBezTo>
                  <a:cubicBezTo>
                    <a:pt x="162" y="8"/>
                    <a:pt x="199" y="21"/>
                    <a:pt x="238" y="43"/>
                  </a:cubicBezTo>
                  <a:cubicBezTo>
                    <a:pt x="278" y="67"/>
                    <a:pt x="301" y="88"/>
                    <a:pt x="308" y="107"/>
                  </a:cubicBezTo>
                  <a:close/>
                  <a:moveTo>
                    <a:pt x="193" y="140"/>
                  </a:moveTo>
                  <a:cubicBezTo>
                    <a:pt x="211" y="144"/>
                    <a:pt x="225" y="143"/>
                    <a:pt x="237" y="136"/>
                  </a:cubicBezTo>
                  <a:cubicBezTo>
                    <a:pt x="248" y="130"/>
                    <a:pt x="250" y="121"/>
                    <a:pt x="242" y="111"/>
                  </a:cubicBezTo>
                  <a:cubicBezTo>
                    <a:pt x="235" y="101"/>
                    <a:pt x="217" y="88"/>
                    <a:pt x="189" y="72"/>
                  </a:cubicBezTo>
                  <a:cubicBezTo>
                    <a:pt x="161" y="55"/>
                    <a:pt x="138" y="45"/>
                    <a:pt x="120" y="41"/>
                  </a:cubicBezTo>
                  <a:cubicBezTo>
                    <a:pt x="103" y="36"/>
                    <a:pt x="88" y="38"/>
                    <a:pt x="77" y="44"/>
                  </a:cubicBezTo>
                  <a:cubicBezTo>
                    <a:pt x="66" y="51"/>
                    <a:pt x="64" y="59"/>
                    <a:pt x="71" y="69"/>
                  </a:cubicBezTo>
                  <a:cubicBezTo>
                    <a:pt x="79" y="79"/>
                    <a:pt x="97" y="92"/>
                    <a:pt x="125" y="109"/>
                  </a:cubicBezTo>
                  <a:cubicBezTo>
                    <a:pt x="153" y="125"/>
                    <a:pt x="176" y="136"/>
                    <a:pt x="193" y="1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32" name="Group 37"/>
          <p:cNvGrpSpPr/>
          <p:nvPr/>
        </p:nvGrpSpPr>
        <p:grpSpPr>
          <a:xfrm>
            <a:off x="7512917" y="3802207"/>
            <a:ext cx="733373" cy="425234"/>
            <a:chOff x="5990000" y="3654723"/>
            <a:chExt cx="733373" cy="425234"/>
          </a:xfrm>
        </p:grpSpPr>
        <p:sp>
          <p:nvSpPr>
            <p:cNvPr id="33" name="Freeform 28"/>
            <p:cNvSpPr/>
            <p:nvPr/>
          </p:nvSpPr>
          <p:spPr bwMode="auto">
            <a:xfrm>
              <a:off x="6232814" y="3654723"/>
              <a:ext cx="490559" cy="294582"/>
            </a:xfrm>
            <a:custGeom>
              <a:avLst/>
              <a:gdLst>
                <a:gd name="T0" fmla="*/ 304 w 335"/>
                <a:gd name="T1" fmla="*/ 75 h 201"/>
                <a:gd name="T2" fmla="*/ 332 w 335"/>
                <a:gd name="T3" fmla="*/ 119 h 201"/>
                <a:gd name="T4" fmla="*/ 281 w 335"/>
                <a:gd name="T5" fmla="*/ 170 h 201"/>
                <a:gd name="T6" fmla="*/ 202 w 335"/>
                <a:gd name="T7" fmla="*/ 201 h 201"/>
                <a:gd name="T8" fmla="*/ 161 w 335"/>
                <a:gd name="T9" fmla="*/ 177 h 201"/>
                <a:gd name="T10" fmla="*/ 201 w 335"/>
                <a:gd name="T11" fmla="*/ 167 h 201"/>
                <a:gd name="T12" fmla="*/ 237 w 335"/>
                <a:gd name="T13" fmla="*/ 151 h 201"/>
                <a:gd name="T14" fmla="*/ 265 w 335"/>
                <a:gd name="T15" fmla="*/ 125 h 201"/>
                <a:gd name="T16" fmla="*/ 250 w 335"/>
                <a:gd name="T17" fmla="*/ 103 h 201"/>
                <a:gd name="T18" fmla="*/ 213 w 335"/>
                <a:gd name="T19" fmla="*/ 98 h 201"/>
                <a:gd name="T20" fmla="*/ 164 w 335"/>
                <a:gd name="T21" fmla="*/ 118 h 201"/>
                <a:gd name="T22" fmla="*/ 147 w 335"/>
                <a:gd name="T23" fmla="*/ 128 h 201"/>
                <a:gd name="T24" fmla="*/ 109 w 335"/>
                <a:gd name="T25" fmla="*/ 107 h 201"/>
                <a:gd name="T26" fmla="*/ 127 w 335"/>
                <a:gd name="T27" fmla="*/ 96 h 201"/>
                <a:gd name="T28" fmla="*/ 159 w 335"/>
                <a:gd name="T29" fmla="*/ 69 h 201"/>
                <a:gd name="T30" fmla="*/ 147 w 335"/>
                <a:gd name="T31" fmla="*/ 48 h 201"/>
                <a:gd name="T32" fmla="*/ 88 w 335"/>
                <a:gd name="T33" fmla="*/ 52 h 201"/>
                <a:gd name="T34" fmla="*/ 69 w 335"/>
                <a:gd name="T35" fmla="*/ 68 h 201"/>
                <a:gd name="T36" fmla="*/ 56 w 335"/>
                <a:gd name="T37" fmla="*/ 90 h 201"/>
                <a:gd name="T38" fmla="*/ 0 w 335"/>
                <a:gd name="T39" fmla="*/ 84 h 201"/>
                <a:gd name="T40" fmla="*/ 52 w 335"/>
                <a:gd name="T41" fmla="*/ 27 h 201"/>
                <a:gd name="T42" fmla="*/ 123 w 335"/>
                <a:gd name="T43" fmla="*/ 3 h 201"/>
                <a:gd name="T44" fmla="*/ 185 w 335"/>
                <a:gd name="T45" fmla="*/ 14 h 201"/>
                <a:gd name="T46" fmla="*/ 208 w 335"/>
                <a:gd name="T47" fmla="*/ 43 h 201"/>
                <a:gd name="T48" fmla="*/ 193 w 335"/>
                <a:gd name="T49" fmla="*/ 77 h 201"/>
                <a:gd name="T50" fmla="*/ 194 w 335"/>
                <a:gd name="T51" fmla="*/ 77 h 201"/>
                <a:gd name="T52" fmla="*/ 253 w 335"/>
                <a:gd name="T53" fmla="*/ 62 h 201"/>
                <a:gd name="T54" fmla="*/ 304 w 335"/>
                <a:gd name="T55" fmla="*/ 75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35" h="201">
                  <a:moveTo>
                    <a:pt x="304" y="75"/>
                  </a:moveTo>
                  <a:cubicBezTo>
                    <a:pt x="326" y="88"/>
                    <a:pt x="335" y="103"/>
                    <a:pt x="332" y="119"/>
                  </a:cubicBezTo>
                  <a:cubicBezTo>
                    <a:pt x="328" y="136"/>
                    <a:pt x="311" y="153"/>
                    <a:pt x="281" y="170"/>
                  </a:cubicBezTo>
                  <a:cubicBezTo>
                    <a:pt x="256" y="185"/>
                    <a:pt x="230" y="195"/>
                    <a:pt x="202" y="201"/>
                  </a:cubicBezTo>
                  <a:cubicBezTo>
                    <a:pt x="161" y="177"/>
                    <a:pt x="161" y="177"/>
                    <a:pt x="161" y="177"/>
                  </a:cubicBezTo>
                  <a:cubicBezTo>
                    <a:pt x="174" y="175"/>
                    <a:pt x="188" y="171"/>
                    <a:pt x="201" y="167"/>
                  </a:cubicBezTo>
                  <a:cubicBezTo>
                    <a:pt x="215" y="162"/>
                    <a:pt x="227" y="157"/>
                    <a:pt x="237" y="151"/>
                  </a:cubicBezTo>
                  <a:cubicBezTo>
                    <a:pt x="253" y="141"/>
                    <a:pt x="263" y="133"/>
                    <a:pt x="265" y="125"/>
                  </a:cubicBezTo>
                  <a:cubicBezTo>
                    <a:pt x="267" y="118"/>
                    <a:pt x="262" y="110"/>
                    <a:pt x="250" y="103"/>
                  </a:cubicBezTo>
                  <a:cubicBezTo>
                    <a:pt x="239" y="97"/>
                    <a:pt x="227" y="95"/>
                    <a:pt x="213" y="98"/>
                  </a:cubicBezTo>
                  <a:cubicBezTo>
                    <a:pt x="200" y="100"/>
                    <a:pt x="184" y="107"/>
                    <a:pt x="164" y="118"/>
                  </a:cubicBezTo>
                  <a:cubicBezTo>
                    <a:pt x="147" y="128"/>
                    <a:pt x="147" y="128"/>
                    <a:pt x="147" y="128"/>
                  </a:cubicBezTo>
                  <a:cubicBezTo>
                    <a:pt x="109" y="107"/>
                    <a:pt x="109" y="107"/>
                    <a:pt x="109" y="107"/>
                  </a:cubicBezTo>
                  <a:cubicBezTo>
                    <a:pt x="127" y="96"/>
                    <a:pt x="127" y="96"/>
                    <a:pt x="127" y="96"/>
                  </a:cubicBezTo>
                  <a:cubicBezTo>
                    <a:pt x="145" y="86"/>
                    <a:pt x="156" y="77"/>
                    <a:pt x="159" y="69"/>
                  </a:cubicBezTo>
                  <a:cubicBezTo>
                    <a:pt x="163" y="62"/>
                    <a:pt x="159" y="55"/>
                    <a:pt x="147" y="48"/>
                  </a:cubicBezTo>
                  <a:cubicBezTo>
                    <a:pt x="130" y="38"/>
                    <a:pt x="110" y="39"/>
                    <a:pt x="88" y="52"/>
                  </a:cubicBezTo>
                  <a:cubicBezTo>
                    <a:pt x="81" y="57"/>
                    <a:pt x="74" y="62"/>
                    <a:pt x="69" y="68"/>
                  </a:cubicBezTo>
                  <a:cubicBezTo>
                    <a:pt x="64" y="74"/>
                    <a:pt x="59" y="81"/>
                    <a:pt x="56" y="9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6" y="63"/>
                    <a:pt x="23" y="44"/>
                    <a:pt x="52" y="27"/>
                  </a:cubicBezTo>
                  <a:cubicBezTo>
                    <a:pt x="76" y="13"/>
                    <a:pt x="100" y="5"/>
                    <a:pt x="123" y="3"/>
                  </a:cubicBezTo>
                  <a:cubicBezTo>
                    <a:pt x="147" y="0"/>
                    <a:pt x="167" y="4"/>
                    <a:pt x="185" y="14"/>
                  </a:cubicBezTo>
                  <a:cubicBezTo>
                    <a:pt x="199" y="23"/>
                    <a:pt x="207" y="32"/>
                    <a:pt x="208" y="43"/>
                  </a:cubicBezTo>
                  <a:cubicBezTo>
                    <a:pt x="210" y="54"/>
                    <a:pt x="205" y="65"/>
                    <a:pt x="193" y="77"/>
                  </a:cubicBezTo>
                  <a:cubicBezTo>
                    <a:pt x="194" y="77"/>
                    <a:pt x="194" y="77"/>
                    <a:pt x="194" y="77"/>
                  </a:cubicBezTo>
                  <a:cubicBezTo>
                    <a:pt x="214" y="68"/>
                    <a:pt x="234" y="63"/>
                    <a:pt x="253" y="62"/>
                  </a:cubicBezTo>
                  <a:cubicBezTo>
                    <a:pt x="271" y="62"/>
                    <a:pt x="288" y="66"/>
                    <a:pt x="304" y="7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4" name="Freeform 29"/>
            <p:cNvSpPr>
              <a:spLocks noEditPoints="1"/>
            </p:cNvSpPr>
            <p:nvPr/>
          </p:nvSpPr>
          <p:spPr bwMode="auto">
            <a:xfrm>
              <a:off x="5990000" y="3814956"/>
              <a:ext cx="460978" cy="265001"/>
            </a:xfrm>
            <a:custGeom>
              <a:avLst/>
              <a:gdLst>
                <a:gd name="T0" fmla="*/ 308 w 315"/>
                <a:gd name="T1" fmla="*/ 107 h 181"/>
                <a:gd name="T2" fmla="*/ 277 w 315"/>
                <a:gd name="T3" fmla="*/ 159 h 181"/>
                <a:gd name="T4" fmla="*/ 186 w 315"/>
                <a:gd name="T5" fmla="*/ 177 h 181"/>
                <a:gd name="T6" fmla="*/ 77 w 315"/>
                <a:gd name="T7" fmla="*/ 137 h 181"/>
                <a:gd name="T8" fmla="*/ 6 w 315"/>
                <a:gd name="T9" fmla="*/ 74 h 181"/>
                <a:gd name="T10" fmla="*/ 38 w 315"/>
                <a:gd name="T11" fmla="*/ 22 h 181"/>
                <a:gd name="T12" fmla="*/ 129 w 315"/>
                <a:gd name="T13" fmla="*/ 4 h 181"/>
                <a:gd name="T14" fmla="*/ 238 w 315"/>
                <a:gd name="T15" fmla="*/ 44 h 181"/>
                <a:gd name="T16" fmla="*/ 308 w 315"/>
                <a:gd name="T17" fmla="*/ 107 h 181"/>
                <a:gd name="T18" fmla="*/ 194 w 315"/>
                <a:gd name="T19" fmla="*/ 140 h 181"/>
                <a:gd name="T20" fmla="*/ 237 w 315"/>
                <a:gd name="T21" fmla="*/ 137 h 181"/>
                <a:gd name="T22" fmla="*/ 243 w 315"/>
                <a:gd name="T23" fmla="*/ 111 h 181"/>
                <a:gd name="T24" fmla="*/ 190 w 315"/>
                <a:gd name="T25" fmla="*/ 72 h 181"/>
                <a:gd name="T26" fmla="*/ 121 w 315"/>
                <a:gd name="T27" fmla="*/ 41 h 181"/>
                <a:gd name="T28" fmla="*/ 78 w 315"/>
                <a:gd name="T29" fmla="*/ 44 h 181"/>
                <a:gd name="T30" fmla="*/ 72 w 315"/>
                <a:gd name="T31" fmla="*/ 69 h 181"/>
                <a:gd name="T32" fmla="*/ 126 w 315"/>
                <a:gd name="T33" fmla="*/ 109 h 181"/>
                <a:gd name="T34" fmla="*/ 194 w 315"/>
                <a:gd name="T35" fmla="*/ 14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15" h="181">
                  <a:moveTo>
                    <a:pt x="308" y="107"/>
                  </a:moveTo>
                  <a:cubicBezTo>
                    <a:pt x="315" y="126"/>
                    <a:pt x="304" y="143"/>
                    <a:pt x="277" y="159"/>
                  </a:cubicBezTo>
                  <a:cubicBezTo>
                    <a:pt x="250" y="175"/>
                    <a:pt x="220" y="181"/>
                    <a:pt x="186" y="177"/>
                  </a:cubicBezTo>
                  <a:cubicBezTo>
                    <a:pt x="153" y="173"/>
                    <a:pt x="116" y="160"/>
                    <a:pt x="77" y="137"/>
                  </a:cubicBezTo>
                  <a:cubicBezTo>
                    <a:pt x="36" y="114"/>
                    <a:pt x="13" y="92"/>
                    <a:pt x="6" y="74"/>
                  </a:cubicBezTo>
                  <a:cubicBezTo>
                    <a:pt x="0" y="55"/>
                    <a:pt x="11" y="37"/>
                    <a:pt x="38" y="22"/>
                  </a:cubicBezTo>
                  <a:cubicBezTo>
                    <a:pt x="65" y="6"/>
                    <a:pt x="95" y="0"/>
                    <a:pt x="129" y="4"/>
                  </a:cubicBezTo>
                  <a:cubicBezTo>
                    <a:pt x="163" y="8"/>
                    <a:pt x="199" y="21"/>
                    <a:pt x="238" y="44"/>
                  </a:cubicBezTo>
                  <a:cubicBezTo>
                    <a:pt x="279" y="67"/>
                    <a:pt x="302" y="88"/>
                    <a:pt x="308" y="107"/>
                  </a:cubicBezTo>
                  <a:close/>
                  <a:moveTo>
                    <a:pt x="194" y="140"/>
                  </a:moveTo>
                  <a:cubicBezTo>
                    <a:pt x="211" y="144"/>
                    <a:pt x="226" y="143"/>
                    <a:pt x="237" y="137"/>
                  </a:cubicBezTo>
                  <a:cubicBezTo>
                    <a:pt x="248" y="130"/>
                    <a:pt x="250" y="122"/>
                    <a:pt x="243" y="111"/>
                  </a:cubicBezTo>
                  <a:cubicBezTo>
                    <a:pt x="236" y="101"/>
                    <a:pt x="218" y="88"/>
                    <a:pt x="190" y="72"/>
                  </a:cubicBezTo>
                  <a:cubicBezTo>
                    <a:pt x="161" y="55"/>
                    <a:pt x="138" y="45"/>
                    <a:pt x="121" y="41"/>
                  </a:cubicBezTo>
                  <a:cubicBezTo>
                    <a:pt x="103" y="37"/>
                    <a:pt x="89" y="38"/>
                    <a:pt x="78" y="44"/>
                  </a:cubicBezTo>
                  <a:cubicBezTo>
                    <a:pt x="66" y="51"/>
                    <a:pt x="64" y="59"/>
                    <a:pt x="72" y="69"/>
                  </a:cubicBezTo>
                  <a:cubicBezTo>
                    <a:pt x="79" y="80"/>
                    <a:pt x="97" y="93"/>
                    <a:pt x="126" y="109"/>
                  </a:cubicBezTo>
                  <a:cubicBezTo>
                    <a:pt x="154" y="126"/>
                    <a:pt x="177" y="136"/>
                    <a:pt x="194" y="1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35" name="Group 38"/>
          <p:cNvGrpSpPr/>
          <p:nvPr/>
        </p:nvGrpSpPr>
        <p:grpSpPr>
          <a:xfrm>
            <a:off x="8386802" y="2968997"/>
            <a:ext cx="754328" cy="436327"/>
            <a:chOff x="6863885" y="2821513"/>
            <a:chExt cx="754328" cy="436327"/>
          </a:xfrm>
        </p:grpSpPr>
        <p:sp>
          <p:nvSpPr>
            <p:cNvPr id="36" name="Freeform 30"/>
            <p:cNvSpPr>
              <a:spLocks noEditPoints="1"/>
            </p:cNvSpPr>
            <p:nvPr/>
          </p:nvSpPr>
          <p:spPr bwMode="auto">
            <a:xfrm>
              <a:off x="7215165" y="2821513"/>
              <a:ext cx="403048" cy="279792"/>
            </a:xfrm>
            <a:custGeom>
              <a:avLst/>
              <a:gdLst>
                <a:gd name="T0" fmla="*/ 228 w 276"/>
                <a:gd name="T1" fmla="*/ 106 h 191"/>
                <a:gd name="T2" fmla="*/ 276 w 276"/>
                <a:gd name="T3" fmla="*/ 134 h 191"/>
                <a:gd name="T4" fmla="*/ 229 w 276"/>
                <a:gd name="T5" fmla="*/ 161 h 191"/>
                <a:gd name="T6" fmla="*/ 181 w 276"/>
                <a:gd name="T7" fmla="*/ 134 h 191"/>
                <a:gd name="T8" fmla="*/ 83 w 276"/>
                <a:gd name="T9" fmla="*/ 191 h 191"/>
                <a:gd name="T10" fmla="*/ 48 w 276"/>
                <a:gd name="T11" fmla="*/ 171 h 191"/>
                <a:gd name="T12" fmla="*/ 0 w 276"/>
                <a:gd name="T13" fmla="*/ 26 h 191"/>
                <a:gd name="T14" fmla="*/ 45 w 276"/>
                <a:gd name="T15" fmla="*/ 0 h 191"/>
                <a:gd name="T16" fmla="*/ 190 w 276"/>
                <a:gd name="T17" fmla="*/ 84 h 191"/>
                <a:gd name="T18" fmla="*/ 218 w 276"/>
                <a:gd name="T19" fmla="*/ 68 h 191"/>
                <a:gd name="T20" fmla="*/ 256 w 276"/>
                <a:gd name="T21" fmla="*/ 90 h 191"/>
                <a:gd name="T22" fmla="*/ 228 w 276"/>
                <a:gd name="T23" fmla="*/ 106 h 191"/>
                <a:gd name="T24" fmla="*/ 87 w 276"/>
                <a:gd name="T25" fmla="*/ 144 h 191"/>
                <a:gd name="T26" fmla="*/ 143 w 276"/>
                <a:gd name="T27" fmla="*/ 112 h 191"/>
                <a:gd name="T28" fmla="*/ 103 w 276"/>
                <a:gd name="T29" fmla="*/ 89 h 191"/>
                <a:gd name="T30" fmla="*/ 76 w 276"/>
                <a:gd name="T31" fmla="*/ 72 h 191"/>
                <a:gd name="T32" fmla="*/ 55 w 276"/>
                <a:gd name="T33" fmla="*/ 59 h 191"/>
                <a:gd name="T34" fmla="*/ 54 w 276"/>
                <a:gd name="T35" fmla="*/ 59 h 191"/>
                <a:gd name="T36" fmla="*/ 65 w 276"/>
                <a:gd name="T37" fmla="*/ 82 h 191"/>
                <a:gd name="T38" fmla="*/ 87 w 276"/>
                <a:gd name="T39" fmla="*/ 144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6" h="191">
                  <a:moveTo>
                    <a:pt x="228" y="106"/>
                  </a:moveTo>
                  <a:cubicBezTo>
                    <a:pt x="276" y="134"/>
                    <a:pt x="276" y="134"/>
                    <a:pt x="276" y="134"/>
                  </a:cubicBezTo>
                  <a:cubicBezTo>
                    <a:pt x="229" y="161"/>
                    <a:pt x="229" y="161"/>
                    <a:pt x="229" y="161"/>
                  </a:cubicBezTo>
                  <a:cubicBezTo>
                    <a:pt x="181" y="134"/>
                    <a:pt x="181" y="134"/>
                    <a:pt x="181" y="134"/>
                  </a:cubicBezTo>
                  <a:cubicBezTo>
                    <a:pt x="83" y="191"/>
                    <a:pt x="83" y="191"/>
                    <a:pt x="83" y="191"/>
                  </a:cubicBezTo>
                  <a:cubicBezTo>
                    <a:pt x="48" y="171"/>
                    <a:pt x="48" y="171"/>
                    <a:pt x="48" y="171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190" y="84"/>
                    <a:pt x="190" y="84"/>
                    <a:pt x="190" y="84"/>
                  </a:cubicBezTo>
                  <a:cubicBezTo>
                    <a:pt x="218" y="68"/>
                    <a:pt x="218" y="68"/>
                    <a:pt x="218" y="68"/>
                  </a:cubicBezTo>
                  <a:cubicBezTo>
                    <a:pt x="256" y="90"/>
                    <a:pt x="256" y="90"/>
                    <a:pt x="256" y="90"/>
                  </a:cubicBezTo>
                  <a:lnTo>
                    <a:pt x="228" y="106"/>
                  </a:lnTo>
                  <a:close/>
                  <a:moveTo>
                    <a:pt x="87" y="144"/>
                  </a:moveTo>
                  <a:cubicBezTo>
                    <a:pt x="143" y="112"/>
                    <a:pt x="143" y="112"/>
                    <a:pt x="143" y="112"/>
                  </a:cubicBezTo>
                  <a:cubicBezTo>
                    <a:pt x="103" y="89"/>
                    <a:pt x="103" y="89"/>
                    <a:pt x="103" y="89"/>
                  </a:cubicBezTo>
                  <a:cubicBezTo>
                    <a:pt x="97" y="85"/>
                    <a:pt x="88" y="80"/>
                    <a:pt x="76" y="72"/>
                  </a:cubicBezTo>
                  <a:cubicBezTo>
                    <a:pt x="64" y="65"/>
                    <a:pt x="57" y="60"/>
                    <a:pt x="55" y="59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9" y="67"/>
                    <a:pt x="63" y="74"/>
                    <a:pt x="65" y="82"/>
                  </a:cubicBezTo>
                  <a:cubicBezTo>
                    <a:pt x="87" y="144"/>
                    <a:pt x="87" y="144"/>
                    <a:pt x="87" y="14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7" name="Freeform 31"/>
            <p:cNvSpPr>
              <a:spLocks noEditPoints="1"/>
            </p:cNvSpPr>
            <p:nvPr/>
          </p:nvSpPr>
          <p:spPr bwMode="auto">
            <a:xfrm>
              <a:off x="6863885" y="2995304"/>
              <a:ext cx="459745" cy="262536"/>
            </a:xfrm>
            <a:custGeom>
              <a:avLst/>
              <a:gdLst>
                <a:gd name="T0" fmla="*/ 308 w 314"/>
                <a:gd name="T1" fmla="*/ 107 h 180"/>
                <a:gd name="T2" fmla="*/ 276 w 314"/>
                <a:gd name="T3" fmla="*/ 159 h 180"/>
                <a:gd name="T4" fmla="*/ 186 w 314"/>
                <a:gd name="T5" fmla="*/ 177 h 180"/>
                <a:gd name="T6" fmla="*/ 77 w 314"/>
                <a:gd name="T7" fmla="*/ 137 h 180"/>
                <a:gd name="T8" fmla="*/ 6 w 314"/>
                <a:gd name="T9" fmla="*/ 73 h 180"/>
                <a:gd name="T10" fmla="*/ 37 w 314"/>
                <a:gd name="T11" fmla="*/ 21 h 180"/>
                <a:gd name="T12" fmla="*/ 128 w 314"/>
                <a:gd name="T13" fmla="*/ 4 h 180"/>
                <a:gd name="T14" fmla="*/ 238 w 314"/>
                <a:gd name="T15" fmla="*/ 43 h 180"/>
                <a:gd name="T16" fmla="*/ 308 w 314"/>
                <a:gd name="T17" fmla="*/ 107 h 180"/>
                <a:gd name="T18" fmla="*/ 194 w 314"/>
                <a:gd name="T19" fmla="*/ 140 h 180"/>
                <a:gd name="T20" fmla="*/ 237 w 314"/>
                <a:gd name="T21" fmla="*/ 136 h 180"/>
                <a:gd name="T22" fmla="*/ 242 w 314"/>
                <a:gd name="T23" fmla="*/ 111 h 180"/>
                <a:gd name="T24" fmla="*/ 189 w 314"/>
                <a:gd name="T25" fmla="*/ 72 h 180"/>
                <a:gd name="T26" fmla="*/ 120 w 314"/>
                <a:gd name="T27" fmla="*/ 41 h 180"/>
                <a:gd name="T28" fmla="*/ 77 w 314"/>
                <a:gd name="T29" fmla="*/ 44 h 180"/>
                <a:gd name="T30" fmla="*/ 71 w 314"/>
                <a:gd name="T31" fmla="*/ 69 h 180"/>
                <a:gd name="T32" fmla="*/ 125 w 314"/>
                <a:gd name="T33" fmla="*/ 109 h 180"/>
                <a:gd name="T34" fmla="*/ 194 w 314"/>
                <a:gd name="T35" fmla="*/ 14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14" h="180">
                  <a:moveTo>
                    <a:pt x="308" y="107"/>
                  </a:moveTo>
                  <a:cubicBezTo>
                    <a:pt x="314" y="126"/>
                    <a:pt x="303" y="143"/>
                    <a:pt x="276" y="159"/>
                  </a:cubicBezTo>
                  <a:cubicBezTo>
                    <a:pt x="249" y="174"/>
                    <a:pt x="219" y="180"/>
                    <a:pt x="186" y="177"/>
                  </a:cubicBezTo>
                  <a:cubicBezTo>
                    <a:pt x="152" y="173"/>
                    <a:pt x="116" y="160"/>
                    <a:pt x="77" y="137"/>
                  </a:cubicBezTo>
                  <a:cubicBezTo>
                    <a:pt x="36" y="113"/>
                    <a:pt x="12" y="92"/>
                    <a:pt x="6" y="73"/>
                  </a:cubicBezTo>
                  <a:cubicBezTo>
                    <a:pt x="0" y="54"/>
                    <a:pt x="10" y="37"/>
                    <a:pt x="37" y="21"/>
                  </a:cubicBezTo>
                  <a:cubicBezTo>
                    <a:pt x="64" y="6"/>
                    <a:pt x="94" y="0"/>
                    <a:pt x="128" y="4"/>
                  </a:cubicBezTo>
                  <a:cubicBezTo>
                    <a:pt x="162" y="8"/>
                    <a:pt x="199" y="21"/>
                    <a:pt x="238" y="43"/>
                  </a:cubicBezTo>
                  <a:cubicBezTo>
                    <a:pt x="278" y="67"/>
                    <a:pt x="301" y="88"/>
                    <a:pt x="308" y="107"/>
                  </a:cubicBezTo>
                  <a:close/>
                  <a:moveTo>
                    <a:pt x="194" y="140"/>
                  </a:moveTo>
                  <a:cubicBezTo>
                    <a:pt x="211" y="144"/>
                    <a:pt x="225" y="143"/>
                    <a:pt x="237" y="136"/>
                  </a:cubicBezTo>
                  <a:cubicBezTo>
                    <a:pt x="248" y="130"/>
                    <a:pt x="250" y="121"/>
                    <a:pt x="242" y="111"/>
                  </a:cubicBezTo>
                  <a:cubicBezTo>
                    <a:pt x="235" y="101"/>
                    <a:pt x="217" y="88"/>
                    <a:pt x="189" y="72"/>
                  </a:cubicBezTo>
                  <a:cubicBezTo>
                    <a:pt x="161" y="55"/>
                    <a:pt x="138" y="45"/>
                    <a:pt x="120" y="41"/>
                  </a:cubicBezTo>
                  <a:cubicBezTo>
                    <a:pt x="103" y="36"/>
                    <a:pt x="88" y="38"/>
                    <a:pt x="77" y="44"/>
                  </a:cubicBezTo>
                  <a:cubicBezTo>
                    <a:pt x="66" y="51"/>
                    <a:pt x="64" y="59"/>
                    <a:pt x="71" y="69"/>
                  </a:cubicBezTo>
                  <a:cubicBezTo>
                    <a:pt x="79" y="79"/>
                    <a:pt x="97" y="92"/>
                    <a:pt x="125" y="109"/>
                  </a:cubicBezTo>
                  <a:cubicBezTo>
                    <a:pt x="153" y="125"/>
                    <a:pt x="176" y="136"/>
                    <a:pt x="194" y="1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1520228" y="4676538"/>
            <a:ext cx="3749190" cy="919554"/>
            <a:chOff x="-921451" y="1697764"/>
            <a:chExt cx="5027727" cy="919554"/>
          </a:xfrm>
        </p:grpSpPr>
        <p:sp>
          <p:nvSpPr>
            <p:cNvPr id="69" name="TextBox 24"/>
            <p:cNvSpPr txBox="1"/>
            <p:nvPr/>
          </p:nvSpPr>
          <p:spPr>
            <a:xfrm>
              <a:off x="-921451" y="2089545"/>
              <a:ext cx="5027727" cy="527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规则+语义生成 TaskProfile，保留显式、隐式、否定与条件意图。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771872" y="1697764"/>
              <a:ext cx="333440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 任务画像</a:t>
              </a:r>
              <a:endPara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2271714" y="3574184"/>
            <a:ext cx="3749190" cy="919554"/>
            <a:chOff x="-921451" y="1697764"/>
            <a:chExt cx="5027727" cy="919554"/>
          </a:xfrm>
        </p:grpSpPr>
        <p:sp>
          <p:nvSpPr>
            <p:cNvPr id="72" name="TextBox 24"/>
            <p:cNvSpPr txBox="1"/>
            <p:nvPr/>
          </p:nvSpPr>
          <p:spPr>
            <a:xfrm>
              <a:off x="-921451" y="2089545"/>
              <a:ext cx="5027727" cy="527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AgentCard 按意图、动作、数据范围和风险上限硬过滤。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771872" y="1697764"/>
              <a:ext cx="333440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 合法候选</a:t>
              </a:r>
              <a:endPara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2782945" y="2470979"/>
            <a:ext cx="4216542" cy="919554"/>
            <a:chOff x="-1548177" y="1697764"/>
            <a:chExt cx="5654454" cy="919554"/>
          </a:xfrm>
        </p:grpSpPr>
        <p:sp>
          <p:nvSpPr>
            <p:cNvPr id="75" name="TextBox 24"/>
            <p:cNvSpPr txBox="1"/>
            <p:nvPr/>
          </p:nvSpPr>
          <p:spPr>
            <a:xfrm>
              <a:off x="-1548177" y="2089545"/>
              <a:ext cx="5654454" cy="527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意图35%、能力25%、场景15%、数据10%、成功率10%、成本5%。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771872" y="1697764"/>
              <a:ext cx="333440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 路由评分</a:t>
              </a:r>
              <a:endPara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3677014" y="1367774"/>
            <a:ext cx="4368022" cy="919554"/>
            <a:chOff x="-1751315" y="1697764"/>
            <a:chExt cx="5857591" cy="919554"/>
          </a:xfrm>
        </p:grpSpPr>
        <p:sp>
          <p:nvSpPr>
            <p:cNvPr id="78" name="TextBox 24"/>
            <p:cNvSpPr txBox="1"/>
            <p:nvPr/>
          </p:nvSpPr>
          <p:spPr>
            <a:xfrm>
              <a:off x="-1751315" y="2089545"/>
              <a:ext cx="5857591" cy="527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生成 TaskGraph，将依赖、重试、改派、Artifact 与 Receipt 统一追踪。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771872" y="1697764"/>
              <a:ext cx="333440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 执行闭环</a:t>
              </a:r>
              <a:endPara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583501" y="471624"/>
            <a:ext cx="2177776" cy="553998"/>
            <a:chOff x="592429" y="482522"/>
            <a:chExt cx="2177776" cy="553998"/>
          </a:xfrm>
        </p:grpSpPr>
        <p:grpSp>
          <p:nvGrpSpPr>
            <p:cNvPr id="81" name="组合 80"/>
            <p:cNvGrpSpPr/>
            <p:nvPr/>
          </p:nvGrpSpPr>
          <p:grpSpPr>
            <a:xfrm>
              <a:off x="592429" y="584272"/>
              <a:ext cx="433087" cy="360490"/>
              <a:chOff x="2770053" y="2524936"/>
              <a:chExt cx="433087" cy="317447"/>
            </a:xfrm>
            <a:solidFill>
              <a:srgbClr val="2F5EB2"/>
            </a:solidFill>
          </p:grpSpPr>
          <p:sp>
            <p:nvSpPr>
              <p:cNvPr id="83" name="箭头: V 形 1"/>
              <p:cNvSpPr/>
              <p:nvPr/>
            </p:nvSpPr>
            <p:spPr>
              <a:xfrm>
                <a:off x="2770053" y="2525556"/>
                <a:ext cx="104604" cy="316827"/>
              </a:xfrm>
              <a:prstGeom prst="chevron">
                <a:avLst>
                  <a:gd name="adj" fmla="val 72622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</a:endParaRPr>
              </a:p>
            </p:txBody>
          </p:sp>
          <p:sp>
            <p:nvSpPr>
              <p:cNvPr id="84" name="箭头: V 形 3"/>
              <p:cNvSpPr/>
              <p:nvPr/>
            </p:nvSpPr>
            <p:spPr>
              <a:xfrm>
                <a:off x="2929059" y="2524940"/>
                <a:ext cx="104604" cy="316827"/>
              </a:xfrm>
              <a:prstGeom prst="chevron">
                <a:avLst>
                  <a:gd name="adj" fmla="val 72622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</a:endParaRPr>
              </a:p>
            </p:txBody>
          </p:sp>
          <p:sp>
            <p:nvSpPr>
              <p:cNvPr id="85" name="箭头: V 形 4"/>
              <p:cNvSpPr/>
              <p:nvPr/>
            </p:nvSpPr>
            <p:spPr>
              <a:xfrm>
                <a:off x="3098536" y="2524936"/>
                <a:ext cx="104604" cy="316827"/>
              </a:xfrm>
              <a:prstGeom prst="chevron">
                <a:avLst>
                  <a:gd name="adj" fmla="val 72622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</a:endParaRPr>
              </a:p>
            </p:txBody>
          </p:sp>
        </p:grpSp>
        <p:sp>
          <p:nvSpPr>
            <p:cNvPr id="82" name="文本框 7"/>
            <p:cNvSpPr txBox="1"/>
            <p:nvPr/>
          </p:nvSpPr>
          <p:spPr>
            <a:xfrm>
              <a:off x="1046656" y="482522"/>
              <a:ext cx="1723549" cy="553998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30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决策路由</a:t>
              </a:r>
              <a:endParaRPr lang="zh-CN" altLang="en-US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>
    <mc:Choice Requires="p14">
      <p:transition p14:dur="10"/>
    </mc:Choice>
    <mc:Fallback>
      <p:transition/>
    </mc:Fallback>
  </mc:AlternateContent>
</p:sld>
</file>

<file path=ppt/slides/slide6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4257431" y="2090683"/>
            <a:ext cx="3666635" cy="3692628"/>
            <a:chOff x="4055084" y="1573969"/>
            <a:chExt cx="4030926" cy="4059502"/>
          </a:xfrm>
        </p:grpSpPr>
        <p:sp>
          <p:nvSpPr>
            <p:cNvPr id="2" name="Freeform 5"/>
            <p:cNvSpPr/>
            <p:nvPr/>
          </p:nvSpPr>
          <p:spPr bwMode="auto">
            <a:xfrm>
              <a:off x="4055084" y="1573969"/>
              <a:ext cx="2919096" cy="1647861"/>
            </a:xfrm>
            <a:custGeom>
              <a:avLst/>
              <a:gdLst>
                <a:gd name="T0" fmla="*/ 1248 w 1248"/>
                <a:gd name="T1" fmla="*/ 705 h 705"/>
                <a:gd name="T2" fmla="*/ 1233 w 1248"/>
                <a:gd name="T3" fmla="*/ 519 h 705"/>
                <a:gd name="T4" fmla="*/ 1192 w 1248"/>
                <a:gd name="T5" fmla="*/ 567 h 705"/>
                <a:gd name="T6" fmla="*/ 1182 w 1248"/>
                <a:gd name="T7" fmla="*/ 542 h 705"/>
                <a:gd name="T8" fmla="*/ 623 w 1248"/>
                <a:gd name="T9" fmla="*/ 281 h 705"/>
                <a:gd name="T10" fmla="*/ 312 w 1248"/>
                <a:gd name="T11" fmla="*/ 0 h 705"/>
                <a:gd name="T12" fmla="*/ 0 w 1248"/>
                <a:gd name="T13" fmla="*/ 312 h 705"/>
                <a:gd name="T14" fmla="*/ 226 w 1248"/>
                <a:gd name="T15" fmla="*/ 612 h 705"/>
                <a:gd name="T16" fmla="*/ 226 w 1248"/>
                <a:gd name="T17" fmla="*/ 612 h 705"/>
                <a:gd name="T18" fmla="*/ 250 w 1248"/>
                <a:gd name="T19" fmla="*/ 618 h 705"/>
                <a:gd name="T20" fmla="*/ 251 w 1248"/>
                <a:gd name="T21" fmla="*/ 618 h 705"/>
                <a:gd name="T22" fmla="*/ 251 w 1248"/>
                <a:gd name="T23" fmla="*/ 618 h 705"/>
                <a:gd name="T24" fmla="*/ 511 w 1248"/>
                <a:gd name="T25" fmla="*/ 368 h 705"/>
                <a:gd name="T26" fmla="*/ 627 w 1248"/>
                <a:gd name="T27" fmla="*/ 328 h 705"/>
                <a:gd name="T28" fmla="*/ 1181 w 1248"/>
                <a:gd name="T29" fmla="*/ 571 h 705"/>
                <a:gd name="T30" fmla="*/ 1117 w 1248"/>
                <a:gd name="T31" fmla="*/ 572 h 705"/>
                <a:gd name="T32" fmla="*/ 1248 w 1248"/>
                <a:gd name="T33" fmla="*/ 705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48" h="705">
                  <a:moveTo>
                    <a:pt x="1248" y="705"/>
                  </a:moveTo>
                  <a:cubicBezTo>
                    <a:pt x="1233" y="519"/>
                    <a:pt x="1233" y="519"/>
                    <a:pt x="1233" y="519"/>
                  </a:cubicBezTo>
                  <a:cubicBezTo>
                    <a:pt x="1192" y="567"/>
                    <a:pt x="1192" y="567"/>
                    <a:pt x="1192" y="567"/>
                  </a:cubicBezTo>
                  <a:cubicBezTo>
                    <a:pt x="1188" y="556"/>
                    <a:pt x="1187" y="553"/>
                    <a:pt x="1182" y="542"/>
                  </a:cubicBezTo>
                  <a:cubicBezTo>
                    <a:pt x="1087" y="335"/>
                    <a:pt x="851" y="233"/>
                    <a:pt x="623" y="281"/>
                  </a:cubicBezTo>
                  <a:cubicBezTo>
                    <a:pt x="607" y="123"/>
                    <a:pt x="474" y="0"/>
                    <a:pt x="312" y="0"/>
                  </a:cubicBezTo>
                  <a:cubicBezTo>
                    <a:pt x="140" y="0"/>
                    <a:pt x="0" y="139"/>
                    <a:pt x="0" y="312"/>
                  </a:cubicBezTo>
                  <a:cubicBezTo>
                    <a:pt x="0" y="454"/>
                    <a:pt x="96" y="574"/>
                    <a:pt x="226" y="612"/>
                  </a:cubicBezTo>
                  <a:cubicBezTo>
                    <a:pt x="226" y="612"/>
                    <a:pt x="226" y="612"/>
                    <a:pt x="226" y="612"/>
                  </a:cubicBezTo>
                  <a:cubicBezTo>
                    <a:pt x="234" y="614"/>
                    <a:pt x="242" y="616"/>
                    <a:pt x="250" y="618"/>
                  </a:cubicBezTo>
                  <a:cubicBezTo>
                    <a:pt x="251" y="618"/>
                    <a:pt x="251" y="618"/>
                    <a:pt x="251" y="618"/>
                  </a:cubicBezTo>
                  <a:cubicBezTo>
                    <a:pt x="251" y="618"/>
                    <a:pt x="251" y="618"/>
                    <a:pt x="251" y="618"/>
                  </a:cubicBezTo>
                  <a:cubicBezTo>
                    <a:pt x="303" y="513"/>
                    <a:pt x="393" y="423"/>
                    <a:pt x="511" y="368"/>
                  </a:cubicBezTo>
                  <a:cubicBezTo>
                    <a:pt x="580" y="336"/>
                    <a:pt x="626" y="328"/>
                    <a:pt x="627" y="328"/>
                  </a:cubicBezTo>
                  <a:cubicBezTo>
                    <a:pt x="853" y="278"/>
                    <a:pt x="1082" y="370"/>
                    <a:pt x="1181" y="571"/>
                  </a:cubicBezTo>
                  <a:cubicBezTo>
                    <a:pt x="1117" y="572"/>
                    <a:pt x="1117" y="572"/>
                    <a:pt x="1117" y="572"/>
                  </a:cubicBezTo>
                  <a:lnTo>
                    <a:pt x="1248" y="705"/>
                  </a:lnTo>
                  <a:close/>
                </a:path>
              </a:pathLst>
            </a:custGeom>
            <a:solidFill>
              <a:srgbClr val="48BAF8"/>
            </a:solidFill>
            <a:ln>
              <a:noFill/>
            </a:ln>
          </p:spPr>
          <p:txBody>
            <a:bodyPr vert="horz" wrap="square" lIns="365760" tIns="45720" rIns="91440" bIns="365760" numCol="1" anchor="ctr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bas Neue" charset="0"/>
                  <a:ea typeface="Bebas Neue" charset="0"/>
                  <a:cs typeface="Bebas Neue" charset="0"/>
                </a:rPr>
                <a:t>01</a:t>
              </a:r>
              <a:endPara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bas Neue" charset="0"/>
                <a:ea typeface="Bebas Neue" charset="0"/>
                <a:cs typeface="Bebas Neue" charset="0"/>
              </a:endParaRPr>
            </a:p>
          </p:txBody>
        </p:sp>
        <p:sp>
          <p:nvSpPr>
            <p:cNvPr id="3" name="Freeform 7"/>
            <p:cNvSpPr/>
            <p:nvPr/>
          </p:nvSpPr>
          <p:spPr bwMode="auto">
            <a:xfrm>
              <a:off x="6437161" y="1573969"/>
              <a:ext cx="1648849" cy="2921073"/>
            </a:xfrm>
            <a:custGeom>
              <a:avLst/>
              <a:gdLst>
                <a:gd name="T0" fmla="*/ 0 w 705"/>
                <a:gd name="T1" fmla="*/ 1249 h 1249"/>
                <a:gd name="T2" fmla="*/ 186 w 705"/>
                <a:gd name="T3" fmla="*/ 1234 h 1249"/>
                <a:gd name="T4" fmla="*/ 139 w 705"/>
                <a:gd name="T5" fmla="*/ 1192 h 1249"/>
                <a:gd name="T6" fmla="*/ 164 w 705"/>
                <a:gd name="T7" fmla="*/ 1182 h 1249"/>
                <a:gd name="T8" fmla="*/ 424 w 705"/>
                <a:gd name="T9" fmla="*/ 623 h 1249"/>
                <a:gd name="T10" fmla="*/ 705 w 705"/>
                <a:gd name="T11" fmla="*/ 312 h 1249"/>
                <a:gd name="T12" fmla="*/ 393 w 705"/>
                <a:gd name="T13" fmla="*/ 0 h 1249"/>
                <a:gd name="T14" fmla="*/ 93 w 705"/>
                <a:gd name="T15" fmla="*/ 227 h 1249"/>
                <a:gd name="T16" fmla="*/ 93 w 705"/>
                <a:gd name="T17" fmla="*/ 227 h 1249"/>
                <a:gd name="T18" fmla="*/ 87 w 705"/>
                <a:gd name="T19" fmla="*/ 251 h 1249"/>
                <a:gd name="T20" fmla="*/ 87 w 705"/>
                <a:gd name="T21" fmla="*/ 251 h 1249"/>
                <a:gd name="T22" fmla="*/ 87 w 705"/>
                <a:gd name="T23" fmla="*/ 252 h 1249"/>
                <a:gd name="T24" fmla="*/ 337 w 705"/>
                <a:gd name="T25" fmla="*/ 512 h 1249"/>
                <a:gd name="T26" fmla="*/ 377 w 705"/>
                <a:gd name="T27" fmla="*/ 627 h 1249"/>
                <a:gd name="T28" fmla="*/ 135 w 705"/>
                <a:gd name="T29" fmla="*/ 1182 h 1249"/>
                <a:gd name="T30" fmla="*/ 133 w 705"/>
                <a:gd name="T31" fmla="*/ 1118 h 1249"/>
                <a:gd name="T32" fmla="*/ 0 w 705"/>
                <a:gd name="T33" fmla="*/ 1249 h 1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05" h="1249">
                  <a:moveTo>
                    <a:pt x="0" y="1249"/>
                  </a:moveTo>
                  <a:cubicBezTo>
                    <a:pt x="186" y="1234"/>
                    <a:pt x="186" y="1234"/>
                    <a:pt x="186" y="1234"/>
                  </a:cubicBezTo>
                  <a:cubicBezTo>
                    <a:pt x="139" y="1192"/>
                    <a:pt x="139" y="1192"/>
                    <a:pt x="139" y="1192"/>
                  </a:cubicBezTo>
                  <a:cubicBezTo>
                    <a:pt x="150" y="1188"/>
                    <a:pt x="153" y="1187"/>
                    <a:pt x="164" y="1182"/>
                  </a:cubicBezTo>
                  <a:cubicBezTo>
                    <a:pt x="370" y="1087"/>
                    <a:pt x="473" y="851"/>
                    <a:pt x="424" y="623"/>
                  </a:cubicBezTo>
                  <a:cubicBezTo>
                    <a:pt x="582" y="608"/>
                    <a:pt x="705" y="474"/>
                    <a:pt x="705" y="312"/>
                  </a:cubicBezTo>
                  <a:cubicBezTo>
                    <a:pt x="705" y="140"/>
                    <a:pt x="565" y="0"/>
                    <a:pt x="393" y="0"/>
                  </a:cubicBezTo>
                  <a:cubicBezTo>
                    <a:pt x="250" y="1"/>
                    <a:pt x="130" y="96"/>
                    <a:pt x="93" y="227"/>
                  </a:cubicBezTo>
                  <a:cubicBezTo>
                    <a:pt x="93" y="227"/>
                    <a:pt x="93" y="227"/>
                    <a:pt x="93" y="227"/>
                  </a:cubicBezTo>
                  <a:cubicBezTo>
                    <a:pt x="90" y="235"/>
                    <a:pt x="88" y="243"/>
                    <a:pt x="87" y="251"/>
                  </a:cubicBezTo>
                  <a:cubicBezTo>
                    <a:pt x="87" y="251"/>
                    <a:pt x="87" y="251"/>
                    <a:pt x="87" y="251"/>
                  </a:cubicBezTo>
                  <a:cubicBezTo>
                    <a:pt x="87" y="252"/>
                    <a:pt x="87" y="252"/>
                    <a:pt x="87" y="252"/>
                  </a:cubicBezTo>
                  <a:cubicBezTo>
                    <a:pt x="192" y="304"/>
                    <a:pt x="282" y="394"/>
                    <a:pt x="337" y="512"/>
                  </a:cubicBezTo>
                  <a:cubicBezTo>
                    <a:pt x="369" y="580"/>
                    <a:pt x="377" y="626"/>
                    <a:pt x="377" y="627"/>
                  </a:cubicBezTo>
                  <a:cubicBezTo>
                    <a:pt x="428" y="854"/>
                    <a:pt x="336" y="1083"/>
                    <a:pt x="135" y="1182"/>
                  </a:cubicBezTo>
                  <a:cubicBezTo>
                    <a:pt x="133" y="1118"/>
                    <a:pt x="133" y="1118"/>
                    <a:pt x="133" y="1118"/>
                  </a:cubicBezTo>
                  <a:lnTo>
                    <a:pt x="0" y="1249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365760" tIns="0" rIns="91440" bIns="1554480" numCol="1" anchor="ctr" anchorCtr="0" compatLnSpc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bas Neue" charset="0"/>
                  <a:ea typeface="Bebas Neue" charset="0"/>
                  <a:cs typeface="Bebas Neue" charset="0"/>
                </a:rPr>
                <a:t>02</a:t>
              </a:r>
              <a:endPara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bas Neue" charset="0"/>
                <a:ea typeface="Bebas Neue" charset="0"/>
                <a:cs typeface="Bebas Neue" charset="0"/>
              </a:endParaRPr>
            </a:p>
          </p:txBody>
        </p:sp>
        <p:sp>
          <p:nvSpPr>
            <p:cNvPr id="4" name="Freeform 8"/>
            <p:cNvSpPr/>
            <p:nvPr/>
          </p:nvSpPr>
          <p:spPr bwMode="auto">
            <a:xfrm>
              <a:off x="5115511" y="4059749"/>
              <a:ext cx="2970499" cy="1573722"/>
            </a:xfrm>
            <a:custGeom>
              <a:avLst/>
              <a:gdLst>
                <a:gd name="T0" fmla="*/ 0 w 1270"/>
                <a:gd name="T1" fmla="*/ 0 h 673"/>
                <a:gd name="T2" fmla="*/ 22 w 1270"/>
                <a:gd name="T3" fmla="*/ 185 h 673"/>
                <a:gd name="T4" fmla="*/ 62 w 1270"/>
                <a:gd name="T5" fmla="*/ 136 h 673"/>
                <a:gd name="T6" fmla="*/ 73 w 1270"/>
                <a:gd name="T7" fmla="*/ 161 h 673"/>
                <a:gd name="T8" fmla="*/ 642 w 1270"/>
                <a:gd name="T9" fmla="*/ 398 h 673"/>
                <a:gd name="T10" fmla="*/ 964 w 1270"/>
                <a:gd name="T11" fmla="*/ 666 h 673"/>
                <a:gd name="T12" fmla="*/ 1263 w 1270"/>
                <a:gd name="T13" fmla="*/ 342 h 673"/>
                <a:gd name="T14" fmla="*/ 1025 w 1270"/>
                <a:gd name="T15" fmla="*/ 51 h 673"/>
                <a:gd name="T16" fmla="*/ 1025 w 1270"/>
                <a:gd name="T17" fmla="*/ 51 h 673"/>
                <a:gd name="T18" fmla="*/ 1000 w 1270"/>
                <a:gd name="T19" fmla="*/ 46 h 673"/>
                <a:gd name="T20" fmla="*/ 1000 w 1270"/>
                <a:gd name="T21" fmla="*/ 46 h 673"/>
                <a:gd name="T22" fmla="*/ 999 w 1270"/>
                <a:gd name="T23" fmla="*/ 46 h 673"/>
                <a:gd name="T24" fmla="*/ 750 w 1270"/>
                <a:gd name="T25" fmla="*/ 306 h 673"/>
                <a:gd name="T26" fmla="*/ 636 w 1270"/>
                <a:gd name="T27" fmla="*/ 351 h 673"/>
                <a:gd name="T28" fmla="*/ 72 w 1270"/>
                <a:gd name="T29" fmla="*/ 131 h 673"/>
                <a:gd name="T30" fmla="*/ 136 w 1270"/>
                <a:gd name="T31" fmla="*/ 127 h 673"/>
                <a:gd name="T32" fmla="*/ 0 w 1270"/>
                <a:gd name="T33" fmla="*/ 0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70" h="673">
                  <a:moveTo>
                    <a:pt x="0" y="0"/>
                  </a:moveTo>
                  <a:cubicBezTo>
                    <a:pt x="22" y="185"/>
                    <a:pt x="22" y="185"/>
                    <a:pt x="22" y="185"/>
                  </a:cubicBezTo>
                  <a:cubicBezTo>
                    <a:pt x="62" y="136"/>
                    <a:pt x="62" y="136"/>
                    <a:pt x="62" y="136"/>
                  </a:cubicBezTo>
                  <a:cubicBezTo>
                    <a:pt x="66" y="147"/>
                    <a:pt x="67" y="150"/>
                    <a:pt x="73" y="161"/>
                  </a:cubicBezTo>
                  <a:cubicBezTo>
                    <a:pt x="176" y="363"/>
                    <a:pt x="416" y="456"/>
                    <a:pt x="642" y="398"/>
                  </a:cubicBezTo>
                  <a:cubicBezTo>
                    <a:pt x="664" y="555"/>
                    <a:pt x="802" y="673"/>
                    <a:pt x="964" y="666"/>
                  </a:cubicBezTo>
                  <a:cubicBezTo>
                    <a:pt x="1136" y="659"/>
                    <a:pt x="1270" y="514"/>
                    <a:pt x="1263" y="342"/>
                  </a:cubicBezTo>
                  <a:cubicBezTo>
                    <a:pt x="1257" y="199"/>
                    <a:pt x="1156" y="83"/>
                    <a:pt x="1025" y="51"/>
                  </a:cubicBezTo>
                  <a:cubicBezTo>
                    <a:pt x="1025" y="51"/>
                    <a:pt x="1025" y="51"/>
                    <a:pt x="1025" y="51"/>
                  </a:cubicBezTo>
                  <a:cubicBezTo>
                    <a:pt x="1017" y="49"/>
                    <a:pt x="1008" y="47"/>
                    <a:pt x="1000" y="46"/>
                  </a:cubicBezTo>
                  <a:cubicBezTo>
                    <a:pt x="1000" y="46"/>
                    <a:pt x="1000" y="46"/>
                    <a:pt x="1000" y="46"/>
                  </a:cubicBezTo>
                  <a:cubicBezTo>
                    <a:pt x="1000" y="46"/>
                    <a:pt x="999" y="46"/>
                    <a:pt x="999" y="46"/>
                  </a:cubicBezTo>
                  <a:cubicBezTo>
                    <a:pt x="951" y="153"/>
                    <a:pt x="865" y="247"/>
                    <a:pt x="750" y="306"/>
                  </a:cubicBezTo>
                  <a:cubicBezTo>
                    <a:pt x="682" y="341"/>
                    <a:pt x="637" y="351"/>
                    <a:pt x="636" y="351"/>
                  </a:cubicBezTo>
                  <a:cubicBezTo>
                    <a:pt x="412" y="411"/>
                    <a:pt x="179" y="328"/>
                    <a:pt x="72" y="131"/>
                  </a:cubicBezTo>
                  <a:cubicBezTo>
                    <a:pt x="136" y="127"/>
                    <a:pt x="136" y="127"/>
                    <a:pt x="136" y="12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15BAB"/>
            </a:solidFill>
            <a:ln>
              <a:noFill/>
            </a:ln>
          </p:spPr>
          <p:txBody>
            <a:bodyPr vert="horz" wrap="square" lIns="1645920" tIns="274320" rIns="91440" bIns="0" numCol="1" anchor="ctr" anchorCtr="0" compatLnSpc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bas Neue" charset="0"/>
                  <a:ea typeface="Bebas Neue" charset="0"/>
                  <a:cs typeface="Bebas Neue" charset="0"/>
                </a:rPr>
                <a:t>04</a:t>
              </a:r>
              <a:endPara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bas Neue" charset="0"/>
                <a:ea typeface="Bebas Neue" charset="0"/>
                <a:cs typeface="Bebas Neue" charset="0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>
              <a:off x="4055084" y="2660995"/>
              <a:ext cx="1571745" cy="2972476"/>
            </a:xfrm>
            <a:custGeom>
              <a:avLst/>
              <a:gdLst>
                <a:gd name="T0" fmla="*/ 672 w 672"/>
                <a:gd name="T1" fmla="*/ 0 h 1271"/>
                <a:gd name="T2" fmla="*/ 487 w 672"/>
                <a:gd name="T3" fmla="*/ 23 h 1271"/>
                <a:gd name="T4" fmla="*/ 536 w 672"/>
                <a:gd name="T5" fmla="*/ 62 h 1271"/>
                <a:gd name="T6" fmla="*/ 511 w 672"/>
                <a:gd name="T7" fmla="*/ 73 h 1271"/>
                <a:gd name="T8" fmla="*/ 274 w 672"/>
                <a:gd name="T9" fmla="*/ 643 h 1271"/>
                <a:gd name="T10" fmla="*/ 6 w 672"/>
                <a:gd name="T11" fmla="*/ 965 h 1271"/>
                <a:gd name="T12" fmla="*/ 331 w 672"/>
                <a:gd name="T13" fmla="*/ 1264 h 1271"/>
                <a:gd name="T14" fmla="*/ 622 w 672"/>
                <a:gd name="T15" fmla="*/ 1025 h 1271"/>
                <a:gd name="T16" fmla="*/ 622 w 672"/>
                <a:gd name="T17" fmla="*/ 1025 h 1271"/>
                <a:gd name="T18" fmla="*/ 627 w 672"/>
                <a:gd name="T19" fmla="*/ 1000 h 1271"/>
                <a:gd name="T20" fmla="*/ 627 w 672"/>
                <a:gd name="T21" fmla="*/ 1000 h 1271"/>
                <a:gd name="T22" fmla="*/ 627 w 672"/>
                <a:gd name="T23" fmla="*/ 1000 h 1271"/>
                <a:gd name="T24" fmla="*/ 366 w 672"/>
                <a:gd name="T25" fmla="*/ 750 h 1271"/>
                <a:gd name="T26" fmla="*/ 321 w 672"/>
                <a:gd name="T27" fmla="*/ 637 h 1271"/>
                <a:gd name="T28" fmla="*/ 540 w 672"/>
                <a:gd name="T29" fmla="*/ 73 h 1271"/>
                <a:gd name="T30" fmla="*/ 545 w 672"/>
                <a:gd name="T31" fmla="*/ 137 h 1271"/>
                <a:gd name="T32" fmla="*/ 672 w 672"/>
                <a:gd name="T33" fmla="*/ 0 h 1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72" h="1271">
                  <a:moveTo>
                    <a:pt x="672" y="0"/>
                  </a:moveTo>
                  <a:cubicBezTo>
                    <a:pt x="487" y="23"/>
                    <a:pt x="487" y="23"/>
                    <a:pt x="487" y="23"/>
                  </a:cubicBezTo>
                  <a:cubicBezTo>
                    <a:pt x="536" y="62"/>
                    <a:pt x="536" y="62"/>
                    <a:pt x="536" y="62"/>
                  </a:cubicBezTo>
                  <a:cubicBezTo>
                    <a:pt x="525" y="67"/>
                    <a:pt x="522" y="68"/>
                    <a:pt x="511" y="73"/>
                  </a:cubicBezTo>
                  <a:cubicBezTo>
                    <a:pt x="309" y="177"/>
                    <a:pt x="216" y="417"/>
                    <a:pt x="274" y="643"/>
                  </a:cubicBezTo>
                  <a:cubicBezTo>
                    <a:pt x="117" y="665"/>
                    <a:pt x="0" y="803"/>
                    <a:pt x="6" y="965"/>
                  </a:cubicBezTo>
                  <a:cubicBezTo>
                    <a:pt x="14" y="1137"/>
                    <a:pt x="159" y="1271"/>
                    <a:pt x="331" y="1264"/>
                  </a:cubicBezTo>
                  <a:cubicBezTo>
                    <a:pt x="474" y="1258"/>
                    <a:pt x="590" y="1157"/>
                    <a:pt x="622" y="1025"/>
                  </a:cubicBezTo>
                  <a:cubicBezTo>
                    <a:pt x="622" y="1025"/>
                    <a:pt x="622" y="1025"/>
                    <a:pt x="622" y="1025"/>
                  </a:cubicBezTo>
                  <a:cubicBezTo>
                    <a:pt x="624" y="1017"/>
                    <a:pt x="625" y="1009"/>
                    <a:pt x="627" y="1000"/>
                  </a:cubicBezTo>
                  <a:cubicBezTo>
                    <a:pt x="627" y="1000"/>
                    <a:pt x="627" y="1000"/>
                    <a:pt x="627" y="1000"/>
                  </a:cubicBezTo>
                  <a:cubicBezTo>
                    <a:pt x="627" y="1000"/>
                    <a:pt x="627" y="1000"/>
                    <a:pt x="627" y="1000"/>
                  </a:cubicBezTo>
                  <a:cubicBezTo>
                    <a:pt x="520" y="952"/>
                    <a:pt x="426" y="866"/>
                    <a:pt x="366" y="750"/>
                  </a:cubicBezTo>
                  <a:cubicBezTo>
                    <a:pt x="331" y="683"/>
                    <a:pt x="322" y="638"/>
                    <a:pt x="321" y="637"/>
                  </a:cubicBezTo>
                  <a:cubicBezTo>
                    <a:pt x="261" y="413"/>
                    <a:pt x="344" y="180"/>
                    <a:pt x="540" y="73"/>
                  </a:cubicBezTo>
                  <a:cubicBezTo>
                    <a:pt x="545" y="137"/>
                    <a:pt x="545" y="137"/>
                    <a:pt x="545" y="137"/>
                  </a:cubicBezTo>
                  <a:lnTo>
                    <a:pt x="672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274320" bIns="365760" numCol="1" anchor="b" anchorCtr="0" compatLnSpc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bas Neue" charset="0"/>
                  <a:ea typeface="Bebas Neue" charset="0"/>
                  <a:cs typeface="Bebas Neue" charset="0"/>
                </a:rPr>
                <a:t>03</a:t>
              </a:r>
              <a:endPara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bas Neue" charset="0"/>
                <a:ea typeface="Bebas Neue" charset="0"/>
                <a:cs typeface="Bebas Neue" charset="0"/>
              </a:endParaRPr>
            </a:p>
          </p:txBody>
        </p:sp>
      </p:grpSp>
      <p:sp>
        <p:nvSpPr>
          <p:cNvPr id="6" name="Freeform 11"/>
          <p:cNvSpPr/>
          <p:nvPr/>
        </p:nvSpPr>
        <p:spPr>
          <a:xfrm flipH="1">
            <a:off x="1074766" y="2771747"/>
            <a:ext cx="3174120" cy="304800"/>
          </a:xfrm>
          <a:custGeom>
            <a:avLst/>
            <a:gdLst>
              <a:gd name="connsiteX0" fmla="*/ 0 w 3444240"/>
              <a:gd name="connsiteY0" fmla="*/ 568960 h 568960"/>
              <a:gd name="connsiteX1" fmla="*/ 690880 w 3444240"/>
              <a:gd name="connsiteY1" fmla="*/ 0 h 568960"/>
              <a:gd name="connsiteX2" fmla="*/ 3444240 w 3444240"/>
              <a:gd name="connsiteY2" fmla="*/ 0 h 56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44240" h="568960">
                <a:moveTo>
                  <a:pt x="0" y="568960"/>
                </a:moveTo>
                <a:lnTo>
                  <a:pt x="690880" y="0"/>
                </a:lnTo>
                <a:lnTo>
                  <a:pt x="3444240" y="0"/>
                </a:lnTo>
              </a:path>
            </a:pathLst>
          </a:custGeom>
          <a:ln w="6350" cmpd="sng">
            <a:solidFill>
              <a:srgbClr val="48BAF8">
                <a:alpha val="50000"/>
              </a:srgbClr>
            </a:solidFill>
            <a:headEnd type="none"/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Source Sans Pro" charset="0"/>
              <a:ea typeface="+mn-ea"/>
              <a:cs typeface="+mn-cs"/>
            </a:endParaRPr>
          </a:p>
        </p:txBody>
      </p:sp>
      <p:sp>
        <p:nvSpPr>
          <p:cNvPr id="8" name="Freeform 13"/>
          <p:cNvSpPr/>
          <p:nvPr/>
        </p:nvSpPr>
        <p:spPr>
          <a:xfrm>
            <a:off x="7888211" y="2737880"/>
            <a:ext cx="3329480" cy="304800"/>
          </a:xfrm>
          <a:custGeom>
            <a:avLst/>
            <a:gdLst>
              <a:gd name="connsiteX0" fmla="*/ 0 w 3444240"/>
              <a:gd name="connsiteY0" fmla="*/ 568960 h 568960"/>
              <a:gd name="connsiteX1" fmla="*/ 690880 w 3444240"/>
              <a:gd name="connsiteY1" fmla="*/ 0 h 568960"/>
              <a:gd name="connsiteX2" fmla="*/ 3444240 w 3444240"/>
              <a:gd name="connsiteY2" fmla="*/ 0 h 56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44240" h="568960">
                <a:moveTo>
                  <a:pt x="0" y="568960"/>
                </a:moveTo>
                <a:lnTo>
                  <a:pt x="690880" y="0"/>
                </a:lnTo>
                <a:lnTo>
                  <a:pt x="3444240" y="0"/>
                </a:lnTo>
              </a:path>
            </a:pathLst>
          </a:custGeom>
          <a:noFill/>
          <a:ln w="6350" cmpd="sng">
            <a:solidFill>
              <a:schemeClr val="tx2">
                <a:lumMod val="40000"/>
                <a:lumOff val="60000"/>
                <a:alpha val="50000"/>
              </a:schemeClr>
            </a:solidFill>
            <a:headEnd type="none"/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Source Sans Pro" charset="0"/>
              <a:ea typeface="+mn-ea"/>
              <a:cs typeface="+mn-cs"/>
            </a:endParaRPr>
          </a:p>
        </p:txBody>
      </p:sp>
      <p:sp>
        <p:nvSpPr>
          <p:cNvPr id="9" name="Freeform 14"/>
          <p:cNvSpPr/>
          <p:nvPr/>
        </p:nvSpPr>
        <p:spPr>
          <a:xfrm flipV="1">
            <a:off x="7888211" y="4790741"/>
            <a:ext cx="3329480" cy="304800"/>
          </a:xfrm>
          <a:custGeom>
            <a:avLst/>
            <a:gdLst>
              <a:gd name="connsiteX0" fmla="*/ 0 w 3444240"/>
              <a:gd name="connsiteY0" fmla="*/ 568960 h 568960"/>
              <a:gd name="connsiteX1" fmla="*/ 690880 w 3444240"/>
              <a:gd name="connsiteY1" fmla="*/ 0 h 568960"/>
              <a:gd name="connsiteX2" fmla="*/ 3444240 w 3444240"/>
              <a:gd name="connsiteY2" fmla="*/ 0 h 56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44240" h="568960">
                <a:moveTo>
                  <a:pt x="0" y="568960"/>
                </a:moveTo>
                <a:lnTo>
                  <a:pt x="690880" y="0"/>
                </a:lnTo>
                <a:lnTo>
                  <a:pt x="3444240" y="0"/>
                </a:lnTo>
              </a:path>
            </a:pathLst>
          </a:custGeom>
          <a:ln w="6350" cmpd="sng">
            <a:solidFill>
              <a:srgbClr val="015BAB">
                <a:alpha val="50000"/>
              </a:srgbClr>
            </a:solidFill>
            <a:headEnd type="none"/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Source Sans Pro" charset="0"/>
              <a:ea typeface="+mn-ea"/>
              <a:cs typeface="+mn-cs"/>
            </a:endParaRPr>
          </a:p>
        </p:txBody>
      </p:sp>
      <p:sp>
        <p:nvSpPr>
          <p:cNvPr id="10" name="Freeform 15"/>
          <p:cNvSpPr/>
          <p:nvPr/>
        </p:nvSpPr>
        <p:spPr>
          <a:xfrm flipH="1" flipV="1">
            <a:off x="1074766" y="4790741"/>
            <a:ext cx="3174120" cy="304800"/>
          </a:xfrm>
          <a:custGeom>
            <a:avLst/>
            <a:gdLst>
              <a:gd name="connsiteX0" fmla="*/ 0 w 3444240"/>
              <a:gd name="connsiteY0" fmla="*/ 568960 h 568960"/>
              <a:gd name="connsiteX1" fmla="*/ 690880 w 3444240"/>
              <a:gd name="connsiteY1" fmla="*/ 0 h 568960"/>
              <a:gd name="connsiteX2" fmla="*/ 3444240 w 3444240"/>
              <a:gd name="connsiteY2" fmla="*/ 0 h 56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44240" h="568960">
                <a:moveTo>
                  <a:pt x="0" y="568960"/>
                </a:moveTo>
                <a:lnTo>
                  <a:pt x="690880" y="0"/>
                </a:lnTo>
                <a:lnTo>
                  <a:pt x="3444240" y="0"/>
                </a:lnTo>
              </a:path>
            </a:pathLst>
          </a:custGeom>
          <a:noFill/>
          <a:ln w="6350" cmpd="sng">
            <a:solidFill>
              <a:schemeClr val="tx2">
                <a:lumMod val="40000"/>
                <a:lumOff val="60000"/>
                <a:alpha val="50000"/>
              </a:schemeClr>
            </a:solidFill>
            <a:headEnd type="none"/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Source Sans Pro" charset="0"/>
              <a:ea typeface="+mn-ea"/>
              <a:cs typeface="+mn-cs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100244" y="2456363"/>
            <a:ext cx="2486474" cy="930704"/>
            <a:chOff x="771872" y="4173331"/>
            <a:chExt cx="3334403" cy="930704"/>
          </a:xfrm>
        </p:grpSpPr>
        <p:sp>
          <p:nvSpPr>
            <p:cNvPr id="15" name="TextBox 26"/>
            <p:cNvSpPr txBox="1"/>
            <p:nvPr/>
          </p:nvSpPr>
          <p:spPr>
            <a:xfrm>
              <a:off x="771872" y="4576262"/>
              <a:ext cx="3334403" cy="527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用户是否可见、可用该 Agent；无合法候选则直接拒绝。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771872" y="4173331"/>
              <a:ext cx="333440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路由预检</a:t>
              </a:r>
              <a:endPara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64760" y="4713311"/>
            <a:ext cx="2486474" cy="930704"/>
            <a:chOff x="771872" y="4173331"/>
            <a:chExt cx="3334403" cy="930704"/>
          </a:xfrm>
        </p:grpSpPr>
        <p:sp>
          <p:nvSpPr>
            <p:cNvPr id="18" name="TextBox 26"/>
            <p:cNvSpPr txBox="1"/>
            <p:nvPr/>
          </p:nvSpPr>
          <p:spPr>
            <a:xfrm>
              <a:off x="771872" y="4576262"/>
              <a:ext cx="3334403" cy="527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校验动作、数据、用途与风险，签发绑定 task/trace 的 Grant。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71872" y="4173331"/>
              <a:ext cx="333440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任务授权</a:t>
              </a:r>
              <a:endPara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555383" y="2410058"/>
            <a:ext cx="2777037" cy="930705"/>
            <a:chOff x="7972672" y="1662220"/>
            <a:chExt cx="3343178" cy="930705"/>
          </a:xfrm>
        </p:grpSpPr>
        <p:sp>
          <p:nvSpPr>
            <p:cNvPr id="21" name="TextBox 20"/>
            <p:cNvSpPr txBox="1"/>
            <p:nvPr/>
          </p:nvSpPr>
          <p:spPr>
            <a:xfrm>
              <a:off x="7972672" y="2065152"/>
              <a:ext cx="3053449" cy="527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校验工具归属、Grant、参数指纹、场景与审批状态。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7981447" y="1662220"/>
              <a:ext cx="333440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工具闸门</a:t>
              </a:r>
              <a:endPara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607146" y="4697647"/>
            <a:ext cx="2777037" cy="930705"/>
            <a:chOff x="7972672" y="1662220"/>
            <a:chExt cx="3343178" cy="930705"/>
          </a:xfrm>
        </p:grpSpPr>
        <p:sp>
          <p:nvSpPr>
            <p:cNvPr id="24" name="TextBox 20"/>
            <p:cNvSpPr txBox="1"/>
            <p:nvPr/>
          </p:nvSpPr>
          <p:spPr>
            <a:xfrm>
              <a:off x="7972672" y="2065152"/>
              <a:ext cx="2993379" cy="527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检查 Artifact 所有权、敏感度、Schema 完整性与输出范围。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7981447" y="1662220"/>
              <a:ext cx="333440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结果守卫</a:t>
              </a:r>
              <a:endPara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83501" y="471624"/>
            <a:ext cx="2177776" cy="553998"/>
            <a:chOff x="592429" y="482522"/>
            <a:chExt cx="2177776" cy="553998"/>
          </a:xfrm>
        </p:grpSpPr>
        <p:grpSp>
          <p:nvGrpSpPr>
            <p:cNvPr id="28" name="组合 27"/>
            <p:cNvGrpSpPr/>
            <p:nvPr/>
          </p:nvGrpSpPr>
          <p:grpSpPr>
            <a:xfrm>
              <a:off x="592429" y="584272"/>
              <a:ext cx="433087" cy="360490"/>
              <a:chOff x="2770053" y="2524936"/>
              <a:chExt cx="433087" cy="317447"/>
            </a:xfrm>
            <a:solidFill>
              <a:srgbClr val="2F5EB2"/>
            </a:solidFill>
          </p:grpSpPr>
          <p:sp>
            <p:nvSpPr>
              <p:cNvPr id="30" name="箭头: V 形 1"/>
              <p:cNvSpPr/>
              <p:nvPr/>
            </p:nvSpPr>
            <p:spPr>
              <a:xfrm>
                <a:off x="2770053" y="2525556"/>
                <a:ext cx="104604" cy="316827"/>
              </a:xfrm>
              <a:prstGeom prst="chevron">
                <a:avLst>
                  <a:gd name="adj" fmla="val 72622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</a:endParaRPr>
              </a:p>
            </p:txBody>
          </p:sp>
          <p:sp>
            <p:nvSpPr>
              <p:cNvPr id="31" name="箭头: V 形 3"/>
              <p:cNvSpPr/>
              <p:nvPr/>
            </p:nvSpPr>
            <p:spPr>
              <a:xfrm>
                <a:off x="2929059" y="2524940"/>
                <a:ext cx="104604" cy="316827"/>
              </a:xfrm>
              <a:prstGeom prst="chevron">
                <a:avLst>
                  <a:gd name="adj" fmla="val 72622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</a:endParaRPr>
              </a:p>
            </p:txBody>
          </p:sp>
          <p:sp>
            <p:nvSpPr>
              <p:cNvPr id="32" name="箭头: V 形 4"/>
              <p:cNvSpPr/>
              <p:nvPr/>
            </p:nvSpPr>
            <p:spPr>
              <a:xfrm>
                <a:off x="3098536" y="2524936"/>
                <a:ext cx="104604" cy="316827"/>
              </a:xfrm>
              <a:prstGeom prst="chevron">
                <a:avLst>
                  <a:gd name="adj" fmla="val 72622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</a:endParaRPr>
              </a:p>
            </p:txBody>
          </p:sp>
        </p:grpSp>
        <p:sp>
          <p:nvSpPr>
            <p:cNvPr id="29" name="文本框 7"/>
            <p:cNvSpPr txBox="1"/>
            <p:nvPr/>
          </p:nvSpPr>
          <p:spPr>
            <a:xfrm>
              <a:off x="1046656" y="482522"/>
              <a:ext cx="1723549" cy="553998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30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权限治理</a:t>
              </a:r>
              <a:endParaRPr lang="zh-CN" altLang="en-US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>
    <mc:Choice Requires="p14">
      <p:transition p14:dur="10"/>
    </mc:Choice>
    <mc:Fallback>
      <p:transition/>
    </mc:Fallback>
  </mc:AlternateContent>
</p:sld>
</file>

<file path=ppt/slides/slide6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39"/>
          <p:cNvGrpSpPr/>
          <p:nvPr/>
        </p:nvGrpSpPr>
        <p:grpSpPr>
          <a:xfrm>
            <a:off x="3243320" y="1707025"/>
            <a:ext cx="5192550" cy="4455651"/>
            <a:chOff x="3618033" y="1020027"/>
            <a:chExt cx="4988824" cy="4280836"/>
          </a:xfrm>
        </p:grpSpPr>
        <p:grpSp>
          <p:nvGrpSpPr>
            <p:cNvPr id="19" name="Gruppierung 9"/>
            <p:cNvGrpSpPr/>
            <p:nvPr/>
          </p:nvGrpSpPr>
          <p:grpSpPr>
            <a:xfrm>
              <a:off x="4253033" y="1419876"/>
              <a:ext cx="3782604" cy="3484929"/>
              <a:chOff x="1099332" y="1331126"/>
              <a:chExt cx="2850566" cy="2626239"/>
            </a:xfrm>
          </p:grpSpPr>
          <p:cxnSp>
            <p:nvCxnSpPr>
              <p:cNvPr id="34" name="Straight Connector 48"/>
              <p:cNvCxnSpPr/>
              <p:nvPr/>
            </p:nvCxnSpPr>
            <p:spPr>
              <a:xfrm rot="8100000" flipH="1">
                <a:off x="2483750" y="1331126"/>
                <a:ext cx="8158" cy="2626239"/>
              </a:xfrm>
              <a:prstGeom prst="line">
                <a:avLst/>
              </a:prstGeom>
              <a:ln w="3175" cap="rnd">
                <a:solidFill>
                  <a:schemeClr val="bg1">
                    <a:lumMod val="50000"/>
                  </a:schemeClr>
                </a:solidFill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50"/>
              <p:cNvCxnSpPr/>
              <p:nvPr/>
            </p:nvCxnSpPr>
            <p:spPr>
              <a:xfrm flipH="1">
                <a:off x="2491908" y="1718614"/>
                <a:ext cx="927322" cy="921552"/>
              </a:xfrm>
              <a:prstGeom prst="line">
                <a:avLst/>
              </a:prstGeom>
              <a:ln w="3175" cap="rnd">
                <a:solidFill>
                  <a:schemeClr val="bg1">
                    <a:lumMod val="50000"/>
                  </a:schemeClr>
                </a:solidFill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9"/>
              <p:cNvCxnSpPr>
                <a:endCxn id="28" idx="3"/>
              </p:cNvCxnSpPr>
              <p:nvPr/>
            </p:nvCxnSpPr>
            <p:spPr>
              <a:xfrm flipH="1">
                <a:off x="1099332" y="2651576"/>
                <a:ext cx="2850566" cy="3250"/>
              </a:xfrm>
              <a:prstGeom prst="line">
                <a:avLst/>
              </a:prstGeom>
              <a:ln w="12700" cap="rnd">
                <a:solidFill>
                  <a:schemeClr val="bg1">
                    <a:lumMod val="50000"/>
                  </a:schemeClr>
                </a:solidFill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62"/>
              <p:cNvCxnSpPr/>
              <p:nvPr/>
            </p:nvCxnSpPr>
            <p:spPr>
              <a:xfrm flipH="1">
                <a:off x="2483750" y="1515099"/>
                <a:ext cx="6972" cy="2244520"/>
              </a:xfrm>
              <a:prstGeom prst="line">
                <a:avLst/>
              </a:prstGeom>
              <a:ln w="3175" cap="rnd">
                <a:solidFill>
                  <a:schemeClr val="bg1">
                    <a:lumMod val="50000"/>
                  </a:schemeClr>
                </a:solidFill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50"/>
              <p:cNvCxnSpPr/>
              <p:nvPr/>
            </p:nvCxnSpPr>
            <p:spPr>
              <a:xfrm flipH="1">
                <a:off x="1567108" y="2664025"/>
                <a:ext cx="927322" cy="921552"/>
              </a:xfrm>
              <a:prstGeom prst="line">
                <a:avLst/>
              </a:prstGeom>
              <a:ln w="3175" cap="rnd">
                <a:solidFill>
                  <a:schemeClr val="bg1">
                    <a:lumMod val="50000"/>
                  </a:schemeClr>
                </a:solidFill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upo 5"/>
            <p:cNvGrpSpPr/>
            <p:nvPr/>
          </p:nvGrpSpPr>
          <p:grpSpPr>
            <a:xfrm>
              <a:off x="4810417" y="2162444"/>
              <a:ext cx="2612099" cy="1603859"/>
              <a:chOff x="4555992" y="2924988"/>
              <a:chExt cx="3160640" cy="1940670"/>
            </a:xfrm>
          </p:grpSpPr>
          <p:grpSp>
            <p:nvGrpSpPr>
              <p:cNvPr id="29" name="Agrupar 2"/>
              <p:cNvGrpSpPr/>
              <p:nvPr/>
            </p:nvGrpSpPr>
            <p:grpSpPr>
              <a:xfrm>
                <a:off x="4555992" y="2924988"/>
                <a:ext cx="3160640" cy="1940670"/>
                <a:chOff x="4258815" y="2699327"/>
                <a:chExt cx="3942838" cy="2420948"/>
              </a:xfrm>
            </p:grpSpPr>
            <p:sp>
              <p:nvSpPr>
                <p:cNvPr id="32" name="Forma libre 142"/>
                <p:cNvSpPr/>
                <p:nvPr/>
              </p:nvSpPr>
              <p:spPr>
                <a:xfrm>
                  <a:off x="4343147" y="2768600"/>
                  <a:ext cx="3765015" cy="2311764"/>
                </a:xfrm>
                <a:custGeom>
                  <a:avLst/>
                  <a:gdLst>
                    <a:gd name="connsiteX0" fmla="*/ 1785924 w 4421405"/>
                    <a:gd name="connsiteY0" fmla="*/ 0 h 2714794"/>
                    <a:gd name="connsiteX1" fmla="*/ 2653420 w 4421405"/>
                    <a:gd name="connsiteY1" fmla="*/ 461244 h 2714794"/>
                    <a:gd name="connsiteX2" fmla="*/ 2749187 w 4421405"/>
                    <a:gd name="connsiteY2" fmla="*/ 637681 h 2714794"/>
                    <a:gd name="connsiteX3" fmla="*/ 2779664 w 4421405"/>
                    <a:gd name="connsiteY3" fmla="*/ 616561 h 2714794"/>
                    <a:gd name="connsiteX4" fmla="*/ 3096515 w 4421405"/>
                    <a:gd name="connsiteY4" fmla="*/ 532225 h 2714794"/>
                    <a:gd name="connsiteX5" fmla="*/ 3720140 w 4421405"/>
                    <a:gd name="connsiteY5" fmla="*/ 1040493 h 2714794"/>
                    <a:gd name="connsiteX6" fmla="*/ 3728215 w 4421405"/>
                    <a:gd name="connsiteY6" fmla="*/ 1120600 h 2714794"/>
                    <a:gd name="connsiteX7" fmla="*/ 3781713 w 4421405"/>
                    <a:gd name="connsiteY7" fmla="*/ 1128765 h 2714794"/>
                    <a:gd name="connsiteX8" fmla="*/ 4421405 w 4421405"/>
                    <a:gd name="connsiteY8" fmla="*/ 1913641 h 2714794"/>
                    <a:gd name="connsiteX9" fmla="*/ 4421404 w 4421405"/>
                    <a:gd name="connsiteY9" fmla="*/ 1913641 h 2714794"/>
                    <a:gd name="connsiteX10" fmla="*/ 3620251 w 4421405"/>
                    <a:gd name="connsiteY10" fmla="*/ 2714794 h 2714794"/>
                    <a:gd name="connsiteX11" fmla="*/ 801153 w 4421405"/>
                    <a:gd name="connsiteY11" fmla="*/ 2714793 h 2714794"/>
                    <a:gd name="connsiteX12" fmla="*/ 16277 w 4421405"/>
                    <a:gd name="connsiteY12" fmla="*/ 2075101 h 2714794"/>
                    <a:gd name="connsiteX13" fmla="*/ 0 w 4421405"/>
                    <a:gd name="connsiteY13" fmla="*/ 1913641 h 2714794"/>
                    <a:gd name="connsiteX14" fmla="*/ 16277 w 4421405"/>
                    <a:gd name="connsiteY14" fmla="*/ 1752181 h 2714794"/>
                    <a:gd name="connsiteX15" fmla="*/ 659336 w 4421405"/>
                    <a:gd name="connsiteY15" fmla="*/ 1125001 h 2714794"/>
                    <a:gd name="connsiteX16" fmla="*/ 739760 w 4421405"/>
                    <a:gd name="connsiteY16" fmla="*/ 1117905 h 2714794"/>
                    <a:gd name="connsiteX17" fmla="*/ 739760 w 4421405"/>
                    <a:gd name="connsiteY17" fmla="*/ 1046164 h 2714794"/>
                    <a:gd name="connsiteX18" fmla="*/ 1785924 w 4421405"/>
                    <a:gd name="connsiteY18" fmla="*/ 0 h 27147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421405" h="2714794">
                      <a:moveTo>
                        <a:pt x="1785924" y="0"/>
                      </a:moveTo>
                      <a:cubicBezTo>
                        <a:pt x="2147037" y="0"/>
                        <a:pt x="2465416" y="182962"/>
                        <a:pt x="2653420" y="461244"/>
                      </a:cubicBezTo>
                      <a:lnTo>
                        <a:pt x="2749187" y="637681"/>
                      </a:lnTo>
                      <a:lnTo>
                        <a:pt x="2779664" y="616561"/>
                      </a:lnTo>
                      <a:cubicBezTo>
                        <a:pt x="2872970" y="562909"/>
                        <a:pt x="2981159" y="532225"/>
                        <a:pt x="3096515" y="532225"/>
                      </a:cubicBezTo>
                      <a:cubicBezTo>
                        <a:pt x="3404131" y="532225"/>
                        <a:pt x="3660783" y="750425"/>
                        <a:pt x="3720140" y="1040493"/>
                      </a:cubicBezTo>
                      <a:lnTo>
                        <a:pt x="3728215" y="1120600"/>
                      </a:lnTo>
                      <a:lnTo>
                        <a:pt x="3781713" y="1128765"/>
                      </a:lnTo>
                      <a:cubicBezTo>
                        <a:pt x="4146785" y="1203469"/>
                        <a:pt x="4421405" y="1526484"/>
                        <a:pt x="4421405" y="1913641"/>
                      </a:cubicBezTo>
                      <a:lnTo>
                        <a:pt x="4421404" y="1913641"/>
                      </a:lnTo>
                      <a:cubicBezTo>
                        <a:pt x="4421404" y="2356106"/>
                        <a:pt x="4062716" y="2714794"/>
                        <a:pt x="3620251" y="2714794"/>
                      </a:cubicBezTo>
                      <a:lnTo>
                        <a:pt x="801153" y="2714793"/>
                      </a:lnTo>
                      <a:cubicBezTo>
                        <a:pt x="413996" y="2714793"/>
                        <a:pt x="90981" y="2440173"/>
                        <a:pt x="16277" y="2075101"/>
                      </a:cubicBezTo>
                      <a:lnTo>
                        <a:pt x="0" y="1913641"/>
                      </a:lnTo>
                      <a:lnTo>
                        <a:pt x="16277" y="1752181"/>
                      </a:lnTo>
                      <a:cubicBezTo>
                        <a:pt x="81643" y="1432743"/>
                        <a:pt x="337122" y="1182557"/>
                        <a:pt x="659336" y="1125001"/>
                      </a:cubicBezTo>
                      <a:lnTo>
                        <a:pt x="739760" y="1117905"/>
                      </a:lnTo>
                      <a:lnTo>
                        <a:pt x="739760" y="1046164"/>
                      </a:lnTo>
                      <a:cubicBezTo>
                        <a:pt x="739760" y="468384"/>
                        <a:pt x="1208144" y="0"/>
                        <a:pt x="178592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48BAF8"/>
                    </a:gs>
                    <a:gs pos="100000">
                      <a:srgbClr val="015BAB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/>
                </a:p>
              </p:txBody>
            </p:sp>
            <p:sp>
              <p:nvSpPr>
                <p:cNvPr id="33" name="Forma libre 63"/>
                <p:cNvSpPr/>
                <p:nvPr/>
              </p:nvSpPr>
              <p:spPr>
                <a:xfrm>
                  <a:off x="4258815" y="2699327"/>
                  <a:ext cx="3942838" cy="2420948"/>
                </a:xfrm>
                <a:custGeom>
                  <a:avLst/>
                  <a:gdLst>
                    <a:gd name="connsiteX0" fmla="*/ 1785924 w 4421405"/>
                    <a:gd name="connsiteY0" fmla="*/ 183858 h 2714794"/>
                    <a:gd name="connsiteX1" fmla="*/ 912656 w 4421405"/>
                    <a:gd name="connsiteY1" fmla="*/ 1057126 h 2714794"/>
                    <a:gd name="connsiteX2" fmla="*/ 912656 w 4421405"/>
                    <a:gd name="connsiteY2" fmla="*/ 1167852 h 2714794"/>
                    <a:gd name="connsiteX3" fmla="*/ 920465 w 4421405"/>
                    <a:gd name="connsiteY3" fmla="*/ 1245317 h 2714794"/>
                    <a:gd name="connsiteX4" fmla="*/ 853288 w 4421405"/>
                    <a:gd name="connsiteY4" fmla="*/ 1245317 h 2714794"/>
                    <a:gd name="connsiteX5" fmla="*/ 181722 w 4421405"/>
                    <a:gd name="connsiteY5" fmla="*/ 1916883 h 2714794"/>
                    <a:gd name="connsiteX6" fmla="*/ 853288 w 4421405"/>
                    <a:gd name="connsiteY6" fmla="*/ 2588449 h 2714794"/>
                    <a:gd name="connsiteX7" fmla="*/ 3568116 w 4421405"/>
                    <a:gd name="connsiteY7" fmla="*/ 2588449 h 2714794"/>
                    <a:gd name="connsiteX8" fmla="*/ 4239682 w 4421405"/>
                    <a:gd name="connsiteY8" fmla="*/ 1916883 h 2714794"/>
                    <a:gd name="connsiteX9" fmla="*/ 3703460 w 4421405"/>
                    <a:gd name="connsiteY9" fmla="*/ 1258961 h 2714794"/>
                    <a:gd name="connsiteX10" fmla="*/ 3571209 w 4421405"/>
                    <a:gd name="connsiteY10" fmla="*/ 1245629 h 2714794"/>
                    <a:gd name="connsiteX11" fmla="*/ 3571849 w 4421405"/>
                    <a:gd name="connsiteY11" fmla="*/ 1239275 h 2714794"/>
                    <a:gd name="connsiteX12" fmla="*/ 3571849 w 4421405"/>
                    <a:gd name="connsiteY12" fmla="*/ 1179005 h 2714794"/>
                    <a:gd name="connsiteX13" fmla="*/ 3096515 w 4421405"/>
                    <a:gd name="connsiteY13" fmla="*/ 703671 h 2714794"/>
                    <a:gd name="connsiteX14" fmla="*/ 2658535 w 4421405"/>
                    <a:gd name="connsiteY14" fmla="*/ 993984 h 2714794"/>
                    <a:gd name="connsiteX15" fmla="*/ 2654226 w 4421405"/>
                    <a:gd name="connsiteY15" fmla="*/ 1007865 h 2714794"/>
                    <a:gd name="connsiteX16" fmla="*/ 2641451 w 4421405"/>
                    <a:gd name="connsiteY16" fmla="*/ 881132 h 2714794"/>
                    <a:gd name="connsiteX17" fmla="*/ 1785924 w 4421405"/>
                    <a:gd name="connsiteY17" fmla="*/ 183858 h 2714794"/>
                    <a:gd name="connsiteX18" fmla="*/ 1785924 w 4421405"/>
                    <a:gd name="connsiteY18" fmla="*/ 0 h 2714794"/>
                    <a:gd name="connsiteX19" fmla="*/ 2653420 w 4421405"/>
                    <a:gd name="connsiteY19" fmla="*/ 461244 h 2714794"/>
                    <a:gd name="connsiteX20" fmla="*/ 2749187 w 4421405"/>
                    <a:gd name="connsiteY20" fmla="*/ 637681 h 2714794"/>
                    <a:gd name="connsiteX21" fmla="*/ 2779664 w 4421405"/>
                    <a:gd name="connsiteY21" fmla="*/ 616561 h 2714794"/>
                    <a:gd name="connsiteX22" fmla="*/ 3096515 w 4421405"/>
                    <a:gd name="connsiteY22" fmla="*/ 532225 h 2714794"/>
                    <a:gd name="connsiteX23" fmla="*/ 3720140 w 4421405"/>
                    <a:gd name="connsiteY23" fmla="*/ 1040493 h 2714794"/>
                    <a:gd name="connsiteX24" fmla="*/ 3728215 w 4421405"/>
                    <a:gd name="connsiteY24" fmla="*/ 1120600 h 2714794"/>
                    <a:gd name="connsiteX25" fmla="*/ 3781713 w 4421405"/>
                    <a:gd name="connsiteY25" fmla="*/ 1128765 h 2714794"/>
                    <a:gd name="connsiteX26" fmla="*/ 4421405 w 4421405"/>
                    <a:gd name="connsiteY26" fmla="*/ 1913641 h 2714794"/>
                    <a:gd name="connsiteX27" fmla="*/ 4421404 w 4421405"/>
                    <a:gd name="connsiteY27" fmla="*/ 1913641 h 2714794"/>
                    <a:gd name="connsiteX28" fmla="*/ 3620251 w 4421405"/>
                    <a:gd name="connsiteY28" fmla="*/ 2714794 h 2714794"/>
                    <a:gd name="connsiteX29" fmla="*/ 801153 w 4421405"/>
                    <a:gd name="connsiteY29" fmla="*/ 2714793 h 2714794"/>
                    <a:gd name="connsiteX30" fmla="*/ 16277 w 4421405"/>
                    <a:gd name="connsiteY30" fmla="*/ 2075101 h 2714794"/>
                    <a:gd name="connsiteX31" fmla="*/ 0 w 4421405"/>
                    <a:gd name="connsiteY31" fmla="*/ 1913641 h 2714794"/>
                    <a:gd name="connsiteX32" fmla="*/ 16277 w 4421405"/>
                    <a:gd name="connsiteY32" fmla="*/ 1752181 h 2714794"/>
                    <a:gd name="connsiteX33" fmla="*/ 659336 w 4421405"/>
                    <a:gd name="connsiteY33" fmla="*/ 1125001 h 2714794"/>
                    <a:gd name="connsiteX34" fmla="*/ 739760 w 4421405"/>
                    <a:gd name="connsiteY34" fmla="*/ 1117905 h 2714794"/>
                    <a:gd name="connsiteX35" fmla="*/ 739760 w 4421405"/>
                    <a:gd name="connsiteY35" fmla="*/ 1046164 h 2714794"/>
                    <a:gd name="connsiteX36" fmla="*/ 1785924 w 4421405"/>
                    <a:gd name="connsiteY36" fmla="*/ 0 h 27147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4421405" h="2714794">
                      <a:moveTo>
                        <a:pt x="1785924" y="183858"/>
                      </a:moveTo>
                      <a:cubicBezTo>
                        <a:pt x="1303631" y="183858"/>
                        <a:pt x="912656" y="574833"/>
                        <a:pt x="912656" y="1057126"/>
                      </a:cubicBezTo>
                      <a:lnTo>
                        <a:pt x="912656" y="1167852"/>
                      </a:lnTo>
                      <a:lnTo>
                        <a:pt x="920465" y="1245317"/>
                      </a:lnTo>
                      <a:lnTo>
                        <a:pt x="853288" y="1245317"/>
                      </a:lnTo>
                      <a:cubicBezTo>
                        <a:pt x="482392" y="1245317"/>
                        <a:pt x="181722" y="1545987"/>
                        <a:pt x="181722" y="1916883"/>
                      </a:cubicBezTo>
                      <a:cubicBezTo>
                        <a:pt x="181722" y="2287779"/>
                        <a:pt x="482392" y="2588449"/>
                        <a:pt x="853288" y="2588449"/>
                      </a:cubicBezTo>
                      <a:lnTo>
                        <a:pt x="3568116" y="2588449"/>
                      </a:lnTo>
                      <a:cubicBezTo>
                        <a:pt x="3939012" y="2588449"/>
                        <a:pt x="4239682" y="2287779"/>
                        <a:pt x="4239682" y="1916883"/>
                      </a:cubicBezTo>
                      <a:cubicBezTo>
                        <a:pt x="4239682" y="1592349"/>
                        <a:pt x="4009482" y="1321582"/>
                        <a:pt x="3703460" y="1258961"/>
                      </a:cubicBezTo>
                      <a:lnTo>
                        <a:pt x="3571209" y="1245629"/>
                      </a:lnTo>
                      <a:lnTo>
                        <a:pt x="3571849" y="1239275"/>
                      </a:lnTo>
                      <a:lnTo>
                        <a:pt x="3571849" y="1179005"/>
                      </a:lnTo>
                      <a:cubicBezTo>
                        <a:pt x="3571849" y="916485"/>
                        <a:pt x="3359035" y="703671"/>
                        <a:pt x="3096515" y="703671"/>
                      </a:cubicBezTo>
                      <a:cubicBezTo>
                        <a:pt x="2899625" y="703671"/>
                        <a:pt x="2730695" y="823379"/>
                        <a:pt x="2658535" y="993984"/>
                      </a:cubicBezTo>
                      <a:lnTo>
                        <a:pt x="2654226" y="1007865"/>
                      </a:lnTo>
                      <a:lnTo>
                        <a:pt x="2641451" y="881132"/>
                      </a:lnTo>
                      <a:cubicBezTo>
                        <a:pt x="2560022" y="483198"/>
                        <a:pt x="2207931" y="183858"/>
                        <a:pt x="1785924" y="183858"/>
                      </a:cubicBezTo>
                      <a:close/>
                      <a:moveTo>
                        <a:pt x="1785924" y="0"/>
                      </a:moveTo>
                      <a:cubicBezTo>
                        <a:pt x="2147037" y="0"/>
                        <a:pt x="2465416" y="182962"/>
                        <a:pt x="2653420" y="461244"/>
                      </a:cubicBezTo>
                      <a:lnTo>
                        <a:pt x="2749187" y="637681"/>
                      </a:lnTo>
                      <a:lnTo>
                        <a:pt x="2779664" y="616561"/>
                      </a:lnTo>
                      <a:cubicBezTo>
                        <a:pt x="2872970" y="562909"/>
                        <a:pt x="2981159" y="532225"/>
                        <a:pt x="3096515" y="532225"/>
                      </a:cubicBezTo>
                      <a:cubicBezTo>
                        <a:pt x="3404131" y="532225"/>
                        <a:pt x="3660783" y="750425"/>
                        <a:pt x="3720140" y="1040493"/>
                      </a:cubicBezTo>
                      <a:lnTo>
                        <a:pt x="3728215" y="1120600"/>
                      </a:lnTo>
                      <a:lnTo>
                        <a:pt x="3781713" y="1128765"/>
                      </a:lnTo>
                      <a:cubicBezTo>
                        <a:pt x="4146785" y="1203469"/>
                        <a:pt x="4421405" y="1526484"/>
                        <a:pt x="4421405" y="1913641"/>
                      </a:cubicBezTo>
                      <a:lnTo>
                        <a:pt x="4421404" y="1913641"/>
                      </a:lnTo>
                      <a:cubicBezTo>
                        <a:pt x="4421404" y="2356106"/>
                        <a:pt x="4062716" y="2714794"/>
                        <a:pt x="3620251" y="2714794"/>
                      </a:cubicBezTo>
                      <a:lnTo>
                        <a:pt x="801153" y="2714793"/>
                      </a:lnTo>
                      <a:cubicBezTo>
                        <a:pt x="413996" y="2714793"/>
                        <a:pt x="90981" y="2440173"/>
                        <a:pt x="16277" y="2075101"/>
                      </a:cubicBezTo>
                      <a:lnTo>
                        <a:pt x="0" y="1913641"/>
                      </a:lnTo>
                      <a:lnTo>
                        <a:pt x="16277" y="1752181"/>
                      </a:lnTo>
                      <a:cubicBezTo>
                        <a:pt x="81643" y="1432743"/>
                        <a:pt x="337122" y="1182557"/>
                        <a:pt x="659336" y="1125001"/>
                      </a:cubicBezTo>
                      <a:lnTo>
                        <a:pt x="739760" y="1117905"/>
                      </a:lnTo>
                      <a:lnTo>
                        <a:pt x="739760" y="1046164"/>
                      </a:lnTo>
                      <a:cubicBezTo>
                        <a:pt x="739760" y="468384"/>
                        <a:pt x="1208144" y="0"/>
                        <a:pt x="1785924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schemeClr val="tx2">
                      <a:lumMod val="40000"/>
                      <a:lumOff val="60000"/>
                      <a:alpha val="5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/>
                </a:p>
              </p:txBody>
            </p:sp>
          </p:grpSp>
          <p:sp>
            <p:nvSpPr>
              <p:cNvPr id="31" name="Marcador de texto 1"/>
              <p:cNvSpPr txBox="1"/>
              <p:nvPr/>
            </p:nvSpPr>
            <p:spPr>
              <a:xfrm>
                <a:off x="4911240" y="3965791"/>
                <a:ext cx="2450172" cy="516373"/>
              </a:xfrm>
              <a:prstGeom prst="rect">
                <a:avLst/>
              </a:prstGeom>
            </p:spPr>
            <p:txBody>
              <a:bodyPr wrap="square" anchor="ctr">
                <a:noAutofit/>
              </a:bodyPr>
              <a:lstStyle>
                <a:lvl1pPr marL="0" indent="0" algn="ctr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/>
                  <a:buNone/>
                  <a:defRPr sz="3000" kern="1200">
                    <a:ln>
                      <a:noFill/>
                    </a:ln>
                    <a:solidFill>
                      <a:schemeClr val="tx1"/>
                    </a:solidFill>
                    <a:latin typeface="Lemon/Milk" charset="0"/>
                    <a:ea typeface="Lemon/Milk" charset="0"/>
                    <a:cs typeface="Lemon/Milk" charset="0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/>
                  <a:buNone/>
                  <a:defRPr sz="2400" kern="1200">
                    <a:solidFill>
                      <a:schemeClr val="tx1"/>
                    </a:solidFill>
                    <a:latin typeface="Lemon/Milk" charset="0"/>
                    <a:ea typeface="Lemon/Milk" charset="0"/>
                    <a:cs typeface="Lemon/Milk" charset="0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/>
                  <a:buNone/>
                  <a:defRPr sz="2000" kern="1200">
                    <a:solidFill>
                      <a:schemeClr val="tx1"/>
                    </a:solidFill>
                    <a:latin typeface="Lemon/Milk" charset="0"/>
                    <a:ea typeface="Lemon/Milk" charset="0"/>
                    <a:cs typeface="Lemon/Milk" charset="0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/>
                  <a:buNone/>
                  <a:defRPr sz="1800" kern="1200">
                    <a:solidFill>
                      <a:schemeClr val="tx1"/>
                    </a:solidFill>
                    <a:latin typeface="Lemon/Milk" charset="0"/>
                    <a:ea typeface="Lemon/Milk" charset="0"/>
                    <a:cs typeface="Lemon/Milk" charset="0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/>
                  <a:buNone/>
                  <a:defRPr sz="1800" kern="1200">
                    <a:solidFill>
                      <a:schemeClr val="tx1"/>
                    </a:solidFill>
                    <a:latin typeface="Lemon/Milk" charset="0"/>
                    <a:ea typeface="Lemon/Milk" charset="0"/>
                    <a:cs typeface="Lemon/Milk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_tradnl" sz="16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ato Light" charset="0"/>
                  </a:rPr>
                  <a:t>原型实测</a:t>
                </a:r>
                <a:endParaRPr lang="es-ES_tradnl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Light" charset="0"/>
                </a:endParaRPr>
              </a:p>
            </p:txBody>
          </p:sp>
        </p:grpSp>
        <p:sp>
          <p:nvSpPr>
            <p:cNvPr id="21" name="Rounded Rectangle 20"/>
            <p:cNvSpPr/>
            <p:nvPr/>
          </p:nvSpPr>
          <p:spPr>
            <a:xfrm>
              <a:off x="4351921" y="1346501"/>
              <a:ext cx="635000" cy="635000"/>
            </a:xfrm>
            <a:prstGeom prst="roundRect">
              <a:avLst>
                <a:gd name="adj" fmla="val 50000"/>
              </a:avLst>
            </a:prstGeom>
            <a:solidFill>
              <a:srgbClr val="015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ounded Rectangle 20"/>
            <p:cNvSpPr/>
            <p:nvPr/>
          </p:nvSpPr>
          <p:spPr>
            <a:xfrm>
              <a:off x="5781860" y="1020027"/>
              <a:ext cx="635000" cy="635000"/>
            </a:xfrm>
            <a:prstGeom prst="roundRect">
              <a:avLst>
                <a:gd name="adj" fmla="val 50000"/>
              </a:avLst>
            </a:prstGeom>
            <a:solidFill>
              <a:srgbClr val="48BA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ounded Rectangle 20"/>
            <p:cNvSpPr/>
            <p:nvPr/>
          </p:nvSpPr>
          <p:spPr>
            <a:xfrm>
              <a:off x="7262769" y="1343470"/>
              <a:ext cx="635000" cy="63500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ounded Rectangle 20"/>
            <p:cNvSpPr/>
            <p:nvPr/>
          </p:nvSpPr>
          <p:spPr>
            <a:xfrm>
              <a:off x="7971857" y="2848381"/>
              <a:ext cx="635000" cy="635000"/>
            </a:xfrm>
            <a:prstGeom prst="roundRect">
              <a:avLst>
                <a:gd name="adj" fmla="val 50000"/>
              </a:avLst>
            </a:prstGeom>
            <a:solidFill>
              <a:srgbClr val="015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ounded Rectangle 20"/>
            <p:cNvSpPr/>
            <p:nvPr/>
          </p:nvSpPr>
          <p:spPr>
            <a:xfrm>
              <a:off x="7231984" y="4335545"/>
              <a:ext cx="635000" cy="635000"/>
            </a:xfrm>
            <a:prstGeom prst="roundRect">
              <a:avLst>
                <a:gd name="adj" fmla="val 50000"/>
              </a:avLst>
            </a:prstGeom>
            <a:solidFill>
              <a:srgbClr val="48BA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ounded Rectangle 20"/>
            <p:cNvSpPr/>
            <p:nvPr/>
          </p:nvSpPr>
          <p:spPr>
            <a:xfrm>
              <a:off x="5772607" y="4665863"/>
              <a:ext cx="635000" cy="63500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ounded Rectangle 20"/>
            <p:cNvSpPr/>
            <p:nvPr/>
          </p:nvSpPr>
          <p:spPr>
            <a:xfrm>
              <a:off x="4372950" y="4355626"/>
              <a:ext cx="635000" cy="635000"/>
            </a:xfrm>
            <a:prstGeom prst="roundRect">
              <a:avLst>
                <a:gd name="adj" fmla="val 50000"/>
              </a:avLst>
            </a:prstGeom>
            <a:solidFill>
              <a:srgbClr val="015B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ounded Rectangle 20"/>
            <p:cNvSpPr/>
            <p:nvPr/>
          </p:nvSpPr>
          <p:spPr>
            <a:xfrm>
              <a:off x="3618033" y="2858880"/>
              <a:ext cx="635000" cy="635000"/>
            </a:xfrm>
            <a:prstGeom prst="roundRect">
              <a:avLst>
                <a:gd name="adj" fmla="val 50000"/>
              </a:avLst>
            </a:prstGeom>
            <a:solidFill>
              <a:srgbClr val="48BA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Title 20"/>
          <p:cNvSpPr txBox="1"/>
          <p:nvPr/>
        </p:nvSpPr>
        <p:spPr>
          <a:xfrm>
            <a:off x="5606052" y="2559581"/>
            <a:ext cx="452541" cy="21367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vert="horz" wrap="square" lIns="121893" tIns="0" rIns="121893" bIns="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r>
              <a:rPr 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</a:rPr>
              <a:t>02</a:t>
            </a:r>
            <a:endParaRPr 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Regular"/>
            </a:endParaRPr>
          </a:p>
        </p:txBody>
      </p:sp>
      <p:sp>
        <p:nvSpPr>
          <p:cNvPr id="40" name="Title 20"/>
          <p:cNvSpPr txBox="1"/>
          <p:nvPr/>
        </p:nvSpPr>
        <p:spPr>
          <a:xfrm>
            <a:off x="4631828" y="2831153"/>
            <a:ext cx="452541" cy="21367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vert="horz" wrap="square" lIns="121893" tIns="0" rIns="121893" bIns="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r>
              <a:rPr 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</a:rPr>
              <a:t>01</a:t>
            </a:r>
            <a:endParaRPr 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Regular"/>
            </a:endParaRPr>
          </a:p>
        </p:txBody>
      </p:sp>
      <p:sp>
        <p:nvSpPr>
          <p:cNvPr id="41" name="Title 20"/>
          <p:cNvSpPr txBox="1"/>
          <p:nvPr/>
        </p:nvSpPr>
        <p:spPr>
          <a:xfrm>
            <a:off x="3998143" y="3848934"/>
            <a:ext cx="452541" cy="21367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vert="horz" wrap="square" lIns="121893" tIns="0" rIns="121893" bIns="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r>
              <a:rPr 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</a:rPr>
              <a:t>08</a:t>
            </a:r>
            <a:endParaRPr 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Regular"/>
            </a:endParaRPr>
          </a:p>
        </p:txBody>
      </p:sp>
      <p:sp>
        <p:nvSpPr>
          <p:cNvPr id="42" name="Title 20"/>
          <p:cNvSpPr txBox="1"/>
          <p:nvPr/>
        </p:nvSpPr>
        <p:spPr>
          <a:xfrm>
            <a:off x="7243678" y="3848934"/>
            <a:ext cx="452541" cy="21367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vert="horz" wrap="square" lIns="121893" tIns="0" rIns="121893" bIns="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r>
              <a:rPr 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</a:rPr>
              <a:t>04</a:t>
            </a:r>
            <a:endParaRPr 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Regular"/>
            </a:endParaRPr>
          </a:p>
        </p:txBody>
      </p:sp>
      <p:sp>
        <p:nvSpPr>
          <p:cNvPr id="43" name="Title 20"/>
          <p:cNvSpPr txBox="1"/>
          <p:nvPr/>
        </p:nvSpPr>
        <p:spPr>
          <a:xfrm>
            <a:off x="6653184" y="2831153"/>
            <a:ext cx="452541" cy="21367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vert="horz" wrap="square" lIns="121893" tIns="0" rIns="121893" bIns="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r>
              <a:rPr 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</a:rPr>
              <a:t>03</a:t>
            </a:r>
            <a:endParaRPr 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Regular"/>
            </a:endParaRPr>
          </a:p>
        </p:txBody>
      </p:sp>
      <p:sp>
        <p:nvSpPr>
          <p:cNvPr id="44" name="Title 20"/>
          <p:cNvSpPr txBox="1"/>
          <p:nvPr/>
        </p:nvSpPr>
        <p:spPr>
          <a:xfrm>
            <a:off x="4631828" y="4788615"/>
            <a:ext cx="452541" cy="21367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vert="horz" wrap="square" lIns="121893" tIns="0" rIns="121893" bIns="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r>
              <a:rPr 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</a:rPr>
              <a:t>07</a:t>
            </a:r>
            <a:endParaRPr 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Regular"/>
            </a:endParaRPr>
          </a:p>
        </p:txBody>
      </p:sp>
      <p:sp>
        <p:nvSpPr>
          <p:cNvPr id="45" name="Title 20"/>
          <p:cNvSpPr txBox="1"/>
          <p:nvPr/>
        </p:nvSpPr>
        <p:spPr>
          <a:xfrm>
            <a:off x="6602231" y="4788615"/>
            <a:ext cx="452541" cy="21367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vert="horz" wrap="square" lIns="121893" tIns="0" rIns="121893" bIns="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r>
              <a:rPr 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</a:rPr>
              <a:t>05</a:t>
            </a:r>
            <a:endParaRPr 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Regular"/>
            </a:endParaRPr>
          </a:p>
        </p:txBody>
      </p:sp>
      <p:sp>
        <p:nvSpPr>
          <p:cNvPr id="46" name="Title 20"/>
          <p:cNvSpPr txBox="1"/>
          <p:nvPr/>
        </p:nvSpPr>
        <p:spPr>
          <a:xfrm>
            <a:off x="5606052" y="5039308"/>
            <a:ext cx="452541" cy="21367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vert="horz" wrap="square" lIns="121893" tIns="0" rIns="121893" bIns="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r>
              <a:rPr 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Regular"/>
              </a:rPr>
              <a:t>06</a:t>
            </a:r>
            <a:endParaRPr 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Regular"/>
            </a:endParaRPr>
          </a:p>
        </p:txBody>
      </p:sp>
      <p:sp>
        <p:nvSpPr>
          <p:cNvPr id="47" name="Shape 2535"/>
          <p:cNvSpPr/>
          <p:nvPr/>
        </p:nvSpPr>
        <p:spPr>
          <a:xfrm>
            <a:off x="5739327" y="5737015"/>
            <a:ext cx="213605" cy="2610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200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000"/>
          </a:p>
        </p:txBody>
      </p:sp>
      <p:sp>
        <p:nvSpPr>
          <p:cNvPr id="48" name="Shape 2546"/>
          <p:cNvSpPr/>
          <p:nvPr/>
        </p:nvSpPr>
        <p:spPr>
          <a:xfrm>
            <a:off x="4223325" y="2248421"/>
            <a:ext cx="261073" cy="2136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200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000"/>
          </a:p>
        </p:txBody>
      </p:sp>
      <p:sp>
        <p:nvSpPr>
          <p:cNvPr id="49" name="Shape 2554"/>
          <p:cNvSpPr/>
          <p:nvPr/>
        </p:nvSpPr>
        <p:spPr>
          <a:xfrm>
            <a:off x="5715903" y="1903030"/>
            <a:ext cx="261073" cy="2373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200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000"/>
          </a:p>
        </p:txBody>
      </p:sp>
      <p:sp>
        <p:nvSpPr>
          <p:cNvPr id="50" name="Shape 2569"/>
          <p:cNvSpPr/>
          <p:nvPr/>
        </p:nvSpPr>
        <p:spPr>
          <a:xfrm>
            <a:off x="3435268" y="3810976"/>
            <a:ext cx="261073" cy="2610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200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000"/>
          </a:p>
        </p:txBody>
      </p:sp>
      <p:sp>
        <p:nvSpPr>
          <p:cNvPr id="51" name="Shape 2587"/>
          <p:cNvSpPr/>
          <p:nvPr/>
        </p:nvSpPr>
        <p:spPr>
          <a:xfrm>
            <a:off x="7177045" y="5345526"/>
            <a:ext cx="261073" cy="2610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200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000"/>
          </a:p>
        </p:txBody>
      </p:sp>
      <p:sp>
        <p:nvSpPr>
          <p:cNvPr id="52" name="Shape 2605"/>
          <p:cNvSpPr/>
          <p:nvPr/>
        </p:nvSpPr>
        <p:spPr>
          <a:xfrm>
            <a:off x="7996613" y="3774788"/>
            <a:ext cx="261197" cy="2611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200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000"/>
          </a:p>
        </p:txBody>
      </p:sp>
      <p:sp>
        <p:nvSpPr>
          <p:cNvPr id="53" name="Shape 2616"/>
          <p:cNvSpPr/>
          <p:nvPr/>
        </p:nvSpPr>
        <p:spPr>
          <a:xfrm>
            <a:off x="7220371" y="2212725"/>
            <a:ext cx="261073" cy="2373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200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000"/>
          </a:p>
        </p:txBody>
      </p:sp>
      <p:sp>
        <p:nvSpPr>
          <p:cNvPr id="54" name="Shape 2624"/>
          <p:cNvSpPr/>
          <p:nvPr/>
        </p:nvSpPr>
        <p:spPr>
          <a:xfrm>
            <a:off x="4223325" y="5371208"/>
            <a:ext cx="261073" cy="2610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200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000"/>
          </a:p>
        </p:txBody>
      </p:sp>
      <p:grpSp>
        <p:nvGrpSpPr>
          <p:cNvPr id="56" name="组合 55"/>
          <p:cNvGrpSpPr/>
          <p:nvPr/>
        </p:nvGrpSpPr>
        <p:grpSpPr>
          <a:xfrm>
            <a:off x="933692" y="1605260"/>
            <a:ext cx="2288600" cy="786039"/>
            <a:chOff x="5933202" y="2347855"/>
            <a:chExt cx="5310629" cy="786039"/>
          </a:xfrm>
        </p:grpSpPr>
        <p:sp>
          <p:nvSpPr>
            <p:cNvPr id="57" name="TextBox 28"/>
            <p:cNvSpPr txBox="1"/>
            <p:nvPr/>
          </p:nvSpPr>
          <p:spPr>
            <a:xfrm>
              <a:off x="5933202" y="2347855"/>
              <a:ext cx="27310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lvl="0">
                <a:defRPr sz="2000" b="1">
                  <a:latin typeface="Lantinghei SC Demibold" panose="02000000000000000000" pitchFamily="2" charset="-122"/>
                  <a:ea typeface="Lantinghei SC Demibold" panose="02000000000000000000" pitchFamily="2" charset="-122"/>
                  <a:cs typeface="+mn-ea"/>
                </a:defRPr>
              </a:lvl1pPr>
            </a:lstStyle>
            <a:p>
              <a:pPr algn="r">
                <a:defRPr/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01 严格整例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/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58" name="Rectangle 28"/>
            <p:cNvSpPr/>
            <p:nvPr/>
          </p:nvSpPr>
          <p:spPr>
            <a:xfrm>
              <a:off x="5933202" y="2606121"/>
              <a:ext cx="5310629" cy="5277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60.61%（20/33）；任一标注字段错误即整例失败。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933692" y="2751313"/>
            <a:ext cx="2293473" cy="786039"/>
            <a:chOff x="5933202" y="2347855"/>
            <a:chExt cx="5321937" cy="786039"/>
          </a:xfrm>
        </p:grpSpPr>
        <p:sp>
          <p:nvSpPr>
            <p:cNvPr id="60" name="TextBox 28"/>
            <p:cNvSpPr txBox="1"/>
            <p:nvPr/>
          </p:nvSpPr>
          <p:spPr>
            <a:xfrm>
              <a:off x="5933202" y="2347855"/>
              <a:ext cx="27310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lvl="0">
                <a:defRPr sz="2000" b="1">
                  <a:latin typeface="Lantinghei SC Demibold" panose="02000000000000000000" pitchFamily="2" charset="-122"/>
                  <a:ea typeface="Lantinghei SC Demibold" panose="02000000000000000000" pitchFamily="2" charset="-122"/>
                  <a:cs typeface="+mn-ea"/>
                </a:defRPr>
              </a:lvl1pPr>
            </a:lstStyle>
            <a:p>
              <a:pPr algn="r">
                <a:defRPr/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02 主意图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/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61" name="Rectangle 28"/>
            <p:cNvSpPr/>
            <p:nvPr/>
          </p:nvSpPr>
          <p:spPr>
            <a:xfrm>
              <a:off x="5933202" y="2606121"/>
              <a:ext cx="5321937" cy="5277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93.94%（31/33）；顶层业务域判断较稳定。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933692" y="3897366"/>
            <a:ext cx="2245162" cy="786039"/>
            <a:chOff x="5933202" y="2347855"/>
            <a:chExt cx="5209833" cy="786039"/>
          </a:xfrm>
        </p:grpSpPr>
        <p:sp>
          <p:nvSpPr>
            <p:cNvPr id="63" name="TextBox 28"/>
            <p:cNvSpPr txBox="1"/>
            <p:nvPr/>
          </p:nvSpPr>
          <p:spPr>
            <a:xfrm>
              <a:off x="5933202" y="2347855"/>
              <a:ext cx="27310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lvl="0">
                <a:defRPr sz="2000" b="1">
                  <a:latin typeface="Lantinghei SC Demibold" panose="02000000000000000000" pitchFamily="2" charset="-122"/>
                  <a:ea typeface="Lantinghei SC Demibold" panose="02000000000000000000" pitchFamily="2" charset="-122"/>
                  <a:cs typeface="+mn-ea"/>
                </a:defRPr>
              </a:lvl1pPr>
            </a:lstStyle>
            <a:p>
              <a:pPr algn="r">
                <a:defRPr/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03 主目标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/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64" name="Rectangle 28"/>
            <p:cNvSpPr/>
            <p:nvPr/>
          </p:nvSpPr>
          <p:spPr>
            <a:xfrm>
              <a:off x="5933202" y="2606121"/>
              <a:ext cx="5209833" cy="5277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100%（9/9）；有主目标标注的样本全部正确。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933692" y="5043418"/>
            <a:ext cx="2287936" cy="786039"/>
            <a:chOff x="5933202" y="2347855"/>
            <a:chExt cx="5309088" cy="786039"/>
          </a:xfrm>
        </p:grpSpPr>
        <p:sp>
          <p:nvSpPr>
            <p:cNvPr id="66" name="TextBox 28"/>
            <p:cNvSpPr txBox="1"/>
            <p:nvPr/>
          </p:nvSpPr>
          <p:spPr>
            <a:xfrm>
              <a:off x="5933202" y="2347855"/>
              <a:ext cx="27310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lvl="0">
                <a:defRPr sz="2000" b="1">
                  <a:latin typeface="Lantinghei SC Demibold" panose="02000000000000000000" pitchFamily="2" charset="-122"/>
                  <a:ea typeface="Lantinghei SC Demibold" panose="02000000000000000000" pitchFamily="2" charset="-122"/>
                  <a:cs typeface="+mn-ea"/>
                </a:defRPr>
              </a:lvl1pPr>
            </a:lstStyle>
            <a:p>
              <a:pPr algn="r">
                <a:defRPr/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04 子意图 P/R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/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67" name="Rectangle 28"/>
            <p:cNvSpPr/>
            <p:nvPr/>
          </p:nvSpPr>
          <p:spPr>
            <a:xfrm>
              <a:off x="5933202" y="2606121"/>
              <a:ext cx="5309088" cy="5277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100% / 98.48%；没有多执行，少量隐含意图漏召回。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8922311" y="1664084"/>
            <a:ext cx="2288600" cy="786039"/>
            <a:chOff x="5933202" y="2347855"/>
            <a:chExt cx="5310629" cy="786039"/>
          </a:xfrm>
        </p:grpSpPr>
        <p:sp>
          <p:nvSpPr>
            <p:cNvPr id="81" name="TextBox 28"/>
            <p:cNvSpPr txBox="1"/>
            <p:nvPr/>
          </p:nvSpPr>
          <p:spPr>
            <a:xfrm>
              <a:off x="8486084" y="2347855"/>
              <a:ext cx="27310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lvl="0">
                <a:defRPr sz="2000" b="1">
                  <a:latin typeface="Lantinghei SC Demibold" panose="02000000000000000000" pitchFamily="2" charset="-122"/>
                  <a:ea typeface="Lantinghei SC Demibold" panose="02000000000000000000" pitchFamily="2" charset="-122"/>
                  <a:cs typeface="+mn-ea"/>
                </a:defRPr>
              </a:lvl1pPr>
            </a:lstStyle>
            <a:p>
              <a:pPr algn="r">
                <a:defRPr/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05 实体字段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/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82" name="Rectangle 28"/>
            <p:cNvSpPr/>
            <p:nvPr/>
          </p:nvSpPr>
          <p:spPr>
            <a:xfrm>
              <a:off x="5933202" y="2606121"/>
              <a:ext cx="5310629" cy="5277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96.46%；按样本逐字段得分后宏平均。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8922311" y="2810137"/>
            <a:ext cx="2293473" cy="786039"/>
            <a:chOff x="5933202" y="2347855"/>
            <a:chExt cx="5321937" cy="786039"/>
          </a:xfrm>
        </p:grpSpPr>
        <p:sp>
          <p:nvSpPr>
            <p:cNvPr id="84" name="TextBox 28"/>
            <p:cNvSpPr txBox="1"/>
            <p:nvPr/>
          </p:nvSpPr>
          <p:spPr>
            <a:xfrm>
              <a:off x="8519225" y="2347855"/>
              <a:ext cx="27310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lvl="0">
                <a:defRPr sz="2000" b="1">
                  <a:latin typeface="Lantinghei SC Demibold" panose="02000000000000000000" pitchFamily="2" charset="-122"/>
                  <a:ea typeface="Lantinghei SC Demibold" panose="02000000000000000000" pitchFamily="2" charset="-122"/>
                  <a:cs typeface="+mn-ea"/>
                </a:defRPr>
              </a:lvl1pPr>
            </a:lstStyle>
            <a:p>
              <a:pPr algn="r">
                <a:defRPr/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06 依赖完全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/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85" name="Rectangle 28"/>
            <p:cNvSpPr/>
            <p:nvPr/>
          </p:nvSpPr>
          <p:spPr>
            <a:xfrm>
              <a:off x="5933202" y="2606121"/>
              <a:ext cx="5321937" cy="5277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92.31%（24/26）；整套依赖边必须完全相等。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8922311" y="3956190"/>
            <a:ext cx="2248505" cy="786039"/>
            <a:chOff x="5933202" y="2347855"/>
            <a:chExt cx="5217590" cy="786039"/>
          </a:xfrm>
        </p:grpSpPr>
        <p:sp>
          <p:nvSpPr>
            <p:cNvPr id="87" name="TextBox 28"/>
            <p:cNvSpPr txBox="1"/>
            <p:nvPr/>
          </p:nvSpPr>
          <p:spPr>
            <a:xfrm>
              <a:off x="8419772" y="2347855"/>
              <a:ext cx="27310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lvl="0">
                <a:defRPr sz="2000" b="1">
                  <a:latin typeface="Lantinghei SC Demibold" panose="02000000000000000000" pitchFamily="2" charset="-122"/>
                  <a:ea typeface="Lantinghei SC Demibold" panose="02000000000000000000" pitchFamily="2" charset="-122"/>
                  <a:cs typeface="+mn-ea"/>
                </a:defRPr>
              </a:lvl1pPr>
            </a:lstStyle>
            <a:p>
              <a:pPr algn="r">
                <a:defRPr/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07 澄清判断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/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88" name="Rectangle 28"/>
            <p:cNvSpPr/>
            <p:nvPr/>
          </p:nvSpPr>
          <p:spPr>
            <a:xfrm>
              <a:off x="5933202" y="2606121"/>
              <a:ext cx="5209833" cy="5277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75%（6/8）；模糊与边界表达是当前主要短板。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8922311" y="5102242"/>
            <a:ext cx="2287936" cy="786039"/>
            <a:chOff x="5933202" y="2347855"/>
            <a:chExt cx="5309088" cy="786039"/>
          </a:xfrm>
        </p:grpSpPr>
        <p:sp>
          <p:nvSpPr>
            <p:cNvPr id="90" name="TextBox 28"/>
            <p:cNvSpPr txBox="1"/>
            <p:nvPr/>
          </p:nvSpPr>
          <p:spPr>
            <a:xfrm>
              <a:off x="8486056" y="2347855"/>
              <a:ext cx="27310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lvl="0">
                <a:defRPr sz="2000" b="1">
                  <a:latin typeface="Lantinghei SC Demibold" panose="02000000000000000000" pitchFamily="2" charset="-122"/>
                  <a:ea typeface="Lantinghei SC Demibold" panose="02000000000000000000" pitchFamily="2" charset="-122"/>
                  <a:cs typeface="+mn-ea"/>
                </a:defRPr>
              </a:lvl1pPr>
            </a:lstStyle>
            <a:p>
              <a:pPr algn="r">
                <a:defRPr/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08 安全治理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/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91" name="Rectangle 28"/>
            <p:cNvSpPr/>
            <p:nvPr/>
          </p:nvSpPr>
          <p:spPr>
            <a:xfrm>
              <a:off x="5933202" y="2606121"/>
              <a:ext cx="5309088" cy="5277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否定动作误执行 0%（0/5）；权限核心回归 102/102，治理矩阵 21 条。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583501" y="471624"/>
            <a:ext cx="2177776" cy="553998"/>
            <a:chOff x="592429" y="482522"/>
            <a:chExt cx="2177776" cy="553998"/>
          </a:xfrm>
        </p:grpSpPr>
        <p:grpSp>
          <p:nvGrpSpPr>
            <p:cNvPr id="93" name="组合 92"/>
            <p:cNvGrpSpPr/>
            <p:nvPr/>
          </p:nvGrpSpPr>
          <p:grpSpPr>
            <a:xfrm>
              <a:off x="592429" y="584272"/>
              <a:ext cx="433087" cy="360490"/>
              <a:chOff x="2770053" y="2524936"/>
              <a:chExt cx="433087" cy="317447"/>
            </a:xfrm>
            <a:solidFill>
              <a:srgbClr val="2F5EB2"/>
            </a:solidFill>
          </p:grpSpPr>
          <p:sp>
            <p:nvSpPr>
              <p:cNvPr id="95" name="箭头: V 形 1"/>
              <p:cNvSpPr/>
              <p:nvPr/>
            </p:nvSpPr>
            <p:spPr>
              <a:xfrm>
                <a:off x="2770053" y="2525556"/>
                <a:ext cx="104604" cy="316827"/>
              </a:xfrm>
              <a:prstGeom prst="chevron">
                <a:avLst>
                  <a:gd name="adj" fmla="val 72622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</a:endParaRPr>
              </a:p>
            </p:txBody>
          </p:sp>
          <p:sp>
            <p:nvSpPr>
              <p:cNvPr id="96" name="箭头: V 形 3"/>
              <p:cNvSpPr/>
              <p:nvPr/>
            </p:nvSpPr>
            <p:spPr>
              <a:xfrm>
                <a:off x="2929059" y="2524940"/>
                <a:ext cx="104604" cy="316827"/>
              </a:xfrm>
              <a:prstGeom prst="chevron">
                <a:avLst>
                  <a:gd name="adj" fmla="val 72622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</a:endParaRPr>
              </a:p>
            </p:txBody>
          </p:sp>
          <p:sp>
            <p:nvSpPr>
              <p:cNvPr id="97" name="箭头: V 形 4"/>
              <p:cNvSpPr/>
              <p:nvPr/>
            </p:nvSpPr>
            <p:spPr>
              <a:xfrm>
                <a:off x="3098536" y="2524936"/>
                <a:ext cx="104604" cy="316827"/>
              </a:xfrm>
              <a:prstGeom prst="chevron">
                <a:avLst>
                  <a:gd name="adj" fmla="val 72622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</a:endParaRPr>
              </a:p>
            </p:txBody>
          </p:sp>
        </p:grpSp>
        <p:sp>
          <p:nvSpPr>
            <p:cNvPr id="94" name="文本框 7"/>
            <p:cNvSpPr txBox="1"/>
            <p:nvPr/>
          </p:nvSpPr>
          <p:spPr>
            <a:xfrm>
              <a:off x="1046656" y="482522"/>
              <a:ext cx="1723549" cy="553998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30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评测量化</a:t>
              </a:r>
              <a:endParaRPr lang="zh-CN" altLang="en-US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>
    <mc:Choice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10952</Words>
  <Application>WPS 演示</Application>
  <PresentationFormat>宽屏</PresentationFormat>
  <Paragraphs>1276</Paragraphs>
  <Slides>60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60</vt:i4>
      </vt:variant>
    </vt:vector>
  </HeadingPairs>
  <TitlesOfParts>
    <vt:vector size="102" baseType="lpstr">
      <vt:lpstr>Arial</vt:lpstr>
      <vt:lpstr>宋体</vt:lpstr>
      <vt:lpstr>Wingdings</vt:lpstr>
      <vt:lpstr>楷体</vt:lpstr>
      <vt:lpstr>Roboto</vt:lpstr>
      <vt:lpstr>Times New Roman</vt:lpstr>
      <vt:lpstr>微软雅黑</vt:lpstr>
      <vt:lpstr>Helvetica</vt:lpstr>
      <vt:lpstr>字魂105号-简雅黑</vt:lpstr>
      <vt:lpstr>微软雅黑 Light</vt:lpstr>
      <vt:lpstr>Calibri Light</vt:lpstr>
      <vt:lpstr>Symbol</vt:lpstr>
      <vt:lpstr>Arial Unicode MS</vt:lpstr>
      <vt:lpstr>等线 Light</vt:lpstr>
      <vt:lpstr>等线</vt:lpstr>
      <vt:lpstr>Lantinghei SC Demibold</vt:lpstr>
      <vt:lpstr>方正粗谭黑简体</vt:lpstr>
      <vt:lpstr>黑体</vt:lpstr>
      <vt:lpstr>Bebas Neue</vt:lpstr>
      <vt:lpstr>Liberation Mono</vt:lpstr>
      <vt:lpstr>Source Sans Pro</vt:lpstr>
      <vt:lpstr>思源黑体 CN Medium</vt:lpstr>
      <vt:lpstr>印品黑体</vt:lpstr>
      <vt:lpstr>思源宋体 CN</vt:lpstr>
      <vt:lpstr>inpin heiti</vt:lpstr>
      <vt:lpstr>Gill Sans</vt:lpstr>
      <vt:lpstr>FZLanTingHeiS-R-GB</vt:lpstr>
      <vt:lpstr>Calibri</vt:lpstr>
      <vt:lpstr>Calibri</vt:lpstr>
      <vt:lpstr>Helvetica Neue</vt:lpstr>
      <vt:lpstr>字魂59号-创粗黑</vt:lpstr>
      <vt:lpstr>阿里巴巴普惠体</vt:lpstr>
      <vt:lpstr>仿宋</vt:lpstr>
      <vt:lpstr>Arial</vt:lpstr>
      <vt:lpstr>Lemon/Milk</vt:lpstr>
      <vt:lpstr>Lato Light</vt:lpstr>
      <vt:lpstr>Source Sans Pro ExtraLight</vt:lpstr>
      <vt:lpstr>Lato Regular</vt:lpstr>
      <vt:lpstr>Gill Sans</vt:lpstr>
      <vt:lpstr>Gill Sans MT</vt:lpstr>
      <vt:lpstr>webwppDefTheme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 Li</dc:creator>
  <cp:lastModifiedBy>醉玲珑</cp:lastModifiedBy>
  <cp:revision>272</cp:revision>
  <dcterms:created xsi:type="dcterms:W3CDTF">2022-09-06T06:55:00Z</dcterms:created>
  <dcterms:modified xsi:type="dcterms:W3CDTF">2026-08-11T08:06:06Z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46CAF1ADEC3F4CD297452ACFB219882A_13</vt:lpwstr>
  </property>
</Properties>
</file>